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34" r:id="rId5"/>
  </p:sldIdLst>
  <p:sldSz cx="51206400" cy="32918400"/>
  <p:notesSz cx="6858000" cy="9144000"/>
  <p:custDataLst>
    <p:tags r:id="rId7"/>
  </p:custDataLst>
  <p:defaultTextStyle>
    <a:defPPr>
      <a:defRPr lang="en-US"/>
    </a:defPPr>
    <a:lvl1pPr marL="0" algn="l" defTabSz="4037990" rtl="0" eaLnBrk="1" latinLnBrk="0" hangingPunct="1">
      <a:defRPr sz="7949" kern="1200">
        <a:solidFill>
          <a:schemeClr val="tx1"/>
        </a:solidFill>
        <a:latin typeface="+mn-lt"/>
        <a:ea typeface="+mn-ea"/>
        <a:cs typeface="+mn-cs"/>
      </a:defRPr>
    </a:lvl1pPr>
    <a:lvl2pPr marL="2018995" algn="l" defTabSz="4037990" rtl="0" eaLnBrk="1" latinLnBrk="0" hangingPunct="1">
      <a:defRPr sz="7949" kern="1200">
        <a:solidFill>
          <a:schemeClr val="tx1"/>
        </a:solidFill>
        <a:latin typeface="+mn-lt"/>
        <a:ea typeface="+mn-ea"/>
        <a:cs typeface="+mn-cs"/>
      </a:defRPr>
    </a:lvl2pPr>
    <a:lvl3pPr marL="4037990" algn="l" defTabSz="4037990" rtl="0" eaLnBrk="1" latinLnBrk="0" hangingPunct="1">
      <a:defRPr sz="7949" kern="1200">
        <a:solidFill>
          <a:schemeClr val="tx1"/>
        </a:solidFill>
        <a:latin typeface="+mn-lt"/>
        <a:ea typeface="+mn-ea"/>
        <a:cs typeface="+mn-cs"/>
      </a:defRPr>
    </a:lvl3pPr>
    <a:lvl4pPr marL="6056986" algn="l" defTabSz="4037990" rtl="0" eaLnBrk="1" latinLnBrk="0" hangingPunct="1">
      <a:defRPr sz="7949" kern="1200">
        <a:solidFill>
          <a:schemeClr val="tx1"/>
        </a:solidFill>
        <a:latin typeface="+mn-lt"/>
        <a:ea typeface="+mn-ea"/>
        <a:cs typeface="+mn-cs"/>
      </a:defRPr>
    </a:lvl4pPr>
    <a:lvl5pPr marL="8075981" algn="l" defTabSz="4037990" rtl="0" eaLnBrk="1" latinLnBrk="0" hangingPunct="1">
      <a:defRPr sz="7949" kern="1200">
        <a:solidFill>
          <a:schemeClr val="tx1"/>
        </a:solidFill>
        <a:latin typeface="+mn-lt"/>
        <a:ea typeface="+mn-ea"/>
        <a:cs typeface="+mn-cs"/>
      </a:defRPr>
    </a:lvl5pPr>
    <a:lvl6pPr marL="10094976" algn="l" defTabSz="4037990" rtl="0" eaLnBrk="1" latinLnBrk="0" hangingPunct="1">
      <a:defRPr sz="7949" kern="1200">
        <a:solidFill>
          <a:schemeClr val="tx1"/>
        </a:solidFill>
        <a:latin typeface="+mn-lt"/>
        <a:ea typeface="+mn-ea"/>
        <a:cs typeface="+mn-cs"/>
      </a:defRPr>
    </a:lvl6pPr>
    <a:lvl7pPr marL="12113971" algn="l" defTabSz="4037990" rtl="0" eaLnBrk="1" latinLnBrk="0" hangingPunct="1">
      <a:defRPr sz="7949" kern="1200">
        <a:solidFill>
          <a:schemeClr val="tx1"/>
        </a:solidFill>
        <a:latin typeface="+mn-lt"/>
        <a:ea typeface="+mn-ea"/>
        <a:cs typeface="+mn-cs"/>
      </a:defRPr>
    </a:lvl7pPr>
    <a:lvl8pPr marL="14132966" algn="l" defTabSz="4037990" rtl="0" eaLnBrk="1" latinLnBrk="0" hangingPunct="1">
      <a:defRPr sz="7949" kern="1200">
        <a:solidFill>
          <a:schemeClr val="tx1"/>
        </a:solidFill>
        <a:latin typeface="+mn-lt"/>
        <a:ea typeface="+mn-ea"/>
        <a:cs typeface="+mn-cs"/>
      </a:defRPr>
    </a:lvl8pPr>
    <a:lvl9pPr marL="16151962" algn="l" defTabSz="4037990" rtl="0" eaLnBrk="1" latinLnBrk="0" hangingPunct="1">
      <a:defRPr sz="794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893E46-2CC9-A496-7CBE-BE9D1BAD2299}" name="Susana Gordo" initials="SG" userId="S::sgordo@fl72inc.com::2dfbc3f1-79b8-4090-96ee-b1cae78dcf78" providerId="AD"/>
  <p188:author id="{14FACE97-7B77-2DF7-BC40-49CF9AE0AE40}" name="Anna Lyubetskaya" initials="AL" userId="S::alyubetskaya@metaphorebio.com::edd63a56-dbe5-4f42-85f4-027eeb481a62" providerId="AD"/>
  <p188:author id="{09885CBC-9F84-5995-EDFA-C8F66FD81653}" name="Brian Fochtman" initials="BF" userId="S::bfochtman@metaphorebio.com::bc19a3f7-6813-4c3a-bfc1-483e99c50157" providerId="AD"/>
  <p188:author id="{448F67CE-68A7-7938-C9FC-8461B384D705}" name="Jake Siegel" initials="JS" userId="S::jsiegel@metaphorebio.com::36deeecd-7b64-4396-8bff-37c13ee2deb7" providerId="AD"/>
  <p188:author id="{FEFA3AD5-8AD4-5513-8983-3A786EF47B55}" name="Anna Lyubetskaya" initials="AL" userId="S::alyubetskaya@metaphorebio.com::b79d6d0e-b851-45cf-92cc-29b9e11627ff" providerId="AD"/>
  <p188:author id="{5FC8A7E0-43AB-6485-6368-B8B34A8684BD}" name="Brian Fochtman" initials="BF" userId="S::bfochtman@metaphorebio.com::53941a0a-eac2-49fe-83f8-a006b423262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2027"/>
    <a:srgbClr val="A3A5A8"/>
    <a:srgbClr val="00C3A8"/>
    <a:srgbClr val="E08FFF"/>
    <a:srgbClr val="50B131"/>
    <a:srgbClr val="228B22"/>
    <a:srgbClr val="870072"/>
    <a:srgbClr val="F68787"/>
    <a:srgbClr val="C990C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063957-5ABA-8703-0AA9-EAAFB2C31D69}" v="3" dt="2026-05-08T18:09:08.3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723" autoAdjust="0"/>
  </p:normalViewPr>
  <p:slideViewPr>
    <p:cSldViewPr snapToGrid="0" showGuides="1">
      <p:cViewPr varScale="1">
        <p:scale>
          <a:sx n="26" d="100"/>
          <a:sy n="26" d="100"/>
        </p:scale>
        <p:origin x="10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C4075-08E7-3142-9270-F40E6C913650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28700" y="1143000"/>
            <a:ext cx="4800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065E8-8AE5-A34D-B05A-185024752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11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037990" rtl="0" eaLnBrk="1" latinLnBrk="0" hangingPunct="1">
      <a:defRPr sz="5299" kern="1200">
        <a:solidFill>
          <a:schemeClr val="tx1"/>
        </a:solidFill>
        <a:latin typeface="+mn-lt"/>
        <a:ea typeface="+mn-ea"/>
        <a:cs typeface="+mn-cs"/>
      </a:defRPr>
    </a:lvl1pPr>
    <a:lvl2pPr marL="2018995" algn="l" defTabSz="4037990" rtl="0" eaLnBrk="1" latinLnBrk="0" hangingPunct="1">
      <a:defRPr sz="5299" kern="1200">
        <a:solidFill>
          <a:schemeClr val="tx1"/>
        </a:solidFill>
        <a:latin typeface="+mn-lt"/>
        <a:ea typeface="+mn-ea"/>
        <a:cs typeface="+mn-cs"/>
      </a:defRPr>
    </a:lvl2pPr>
    <a:lvl3pPr marL="4037990" algn="l" defTabSz="4037990" rtl="0" eaLnBrk="1" latinLnBrk="0" hangingPunct="1">
      <a:defRPr sz="5299" kern="1200">
        <a:solidFill>
          <a:schemeClr val="tx1"/>
        </a:solidFill>
        <a:latin typeface="+mn-lt"/>
        <a:ea typeface="+mn-ea"/>
        <a:cs typeface="+mn-cs"/>
      </a:defRPr>
    </a:lvl3pPr>
    <a:lvl4pPr marL="6056986" algn="l" defTabSz="4037990" rtl="0" eaLnBrk="1" latinLnBrk="0" hangingPunct="1">
      <a:defRPr sz="5299" kern="1200">
        <a:solidFill>
          <a:schemeClr val="tx1"/>
        </a:solidFill>
        <a:latin typeface="+mn-lt"/>
        <a:ea typeface="+mn-ea"/>
        <a:cs typeface="+mn-cs"/>
      </a:defRPr>
    </a:lvl4pPr>
    <a:lvl5pPr marL="8075981" algn="l" defTabSz="4037990" rtl="0" eaLnBrk="1" latinLnBrk="0" hangingPunct="1">
      <a:defRPr sz="5299" kern="1200">
        <a:solidFill>
          <a:schemeClr val="tx1"/>
        </a:solidFill>
        <a:latin typeface="+mn-lt"/>
        <a:ea typeface="+mn-ea"/>
        <a:cs typeface="+mn-cs"/>
      </a:defRPr>
    </a:lvl5pPr>
    <a:lvl6pPr marL="10094976" algn="l" defTabSz="4037990" rtl="0" eaLnBrk="1" latinLnBrk="0" hangingPunct="1">
      <a:defRPr sz="5299" kern="1200">
        <a:solidFill>
          <a:schemeClr val="tx1"/>
        </a:solidFill>
        <a:latin typeface="+mn-lt"/>
        <a:ea typeface="+mn-ea"/>
        <a:cs typeface="+mn-cs"/>
      </a:defRPr>
    </a:lvl6pPr>
    <a:lvl7pPr marL="12113971" algn="l" defTabSz="4037990" rtl="0" eaLnBrk="1" latinLnBrk="0" hangingPunct="1">
      <a:defRPr sz="5299" kern="1200">
        <a:solidFill>
          <a:schemeClr val="tx1"/>
        </a:solidFill>
        <a:latin typeface="+mn-lt"/>
        <a:ea typeface="+mn-ea"/>
        <a:cs typeface="+mn-cs"/>
      </a:defRPr>
    </a:lvl7pPr>
    <a:lvl8pPr marL="14132966" algn="l" defTabSz="4037990" rtl="0" eaLnBrk="1" latinLnBrk="0" hangingPunct="1">
      <a:defRPr sz="5299" kern="1200">
        <a:solidFill>
          <a:schemeClr val="tx1"/>
        </a:solidFill>
        <a:latin typeface="+mn-lt"/>
        <a:ea typeface="+mn-ea"/>
        <a:cs typeface="+mn-cs"/>
      </a:defRPr>
    </a:lvl8pPr>
    <a:lvl9pPr marL="16151962" algn="l" defTabSz="4037990" rtl="0" eaLnBrk="1" latinLnBrk="0" hangingPunct="1">
      <a:defRPr sz="5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Bef>
                <a:spcPts val="1600"/>
              </a:spcBef>
            </a:pPr>
            <a:r>
              <a:rPr lang="en-US" sz="5400" b="1"/>
              <a:t>Fochtman, B</a:t>
            </a:r>
            <a:r>
              <a:rPr lang="en-US" sz="5400"/>
              <a:t>.; Adiga, A.; Athanasopoulos, T.; Bernstein, Z.; </a:t>
            </a:r>
            <a:r>
              <a:rPr lang="en-US" sz="5400" b="1"/>
              <a:t>Brett, C</a:t>
            </a:r>
            <a:r>
              <a:rPr lang="en-US" sz="5400"/>
              <a:t>.; </a:t>
            </a:r>
            <a:r>
              <a:rPr lang="en-US" sz="5400" b="1"/>
              <a:t>Brett, T</a:t>
            </a:r>
            <a:r>
              <a:rPr lang="en-US" sz="5400"/>
              <a:t>.; Cruz-Rodriguez, O.; Dao, K.; </a:t>
            </a:r>
            <a:r>
              <a:rPr lang="en-US" sz="5400" b="1"/>
              <a:t>Friedrich, T</a:t>
            </a:r>
            <a:r>
              <a:rPr lang="en-US" sz="5400"/>
              <a:t>.; </a:t>
            </a:r>
            <a:r>
              <a:rPr lang="en-US" sz="5400" err="1"/>
              <a:t>Gillach</a:t>
            </a:r>
            <a:r>
              <a:rPr lang="en-US" sz="5400"/>
              <a:t>, Q.; Goldberg, B.; Gordo, S.; </a:t>
            </a:r>
            <a:r>
              <a:rPr lang="en-US" sz="5400" err="1"/>
              <a:t>Iocolano</a:t>
            </a:r>
            <a:r>
              <a:rPr lang="en-US" sz="5400"/>
              <a:t>, A.; Jaiganesh, A.; </a:t>
            </a:r>
            <a:r>
              <a:rPr lang="en-US" sz="5400" err="1"/>
              <a:t>Kadli</a:t>
            </a:r>
            <a:r>
              <a:rPr lang="en-US" sz="5400"/>
              <a:t>, A.; </a:t>
            </a:r>
          </a:p>
          <a:p>
            <a:pPr latinLnBrk="1"/>
            <a:r>
              <a:rPr lang="en-US" sz="5400"/>
              <a:t>Kate, S.; Kelly, S.; Kilby, M.; Knoll, E.; </a:t>
            </a:r>
            <a:r>
              <a:rPr lang="en-US" sz="5400" b="1"/>
              <a:t>Kraut, A</a:t>
            </a:r>
            <a:r>
              <a:rPr lang="en-US" sz="5400"/>
              <a:t>.; </a:t>
            </a:r>
            <a:r>
              <a:rPr lang="en-US" sz="5400" err="1"/>
              <a:t>Latowsky</a:t>
            </a:r>
            <a:r>
              <a:rPr lang="en-US" sz="5400"/>
              <a:t>, E.; </a:t>
            </a:r>
            <a:r>
              <a:rPr lang="en-US" sz="5400" b="1"/>
              <a:t>Lin, P</a:t>
            </a:r>
            <a:r>
              <a:rPr lang="en-US" sz="5400"/>
              <a:t>.; Liu, H.; </a:t>
            </a:r>
            <a:r>
              <a:rPr lang="en-US" sz="5400" b="1" err="1"/>
              <a:t>Lyubetskaya</a:t>
            </a:r>
            <a:r>
              <a:rPr lang="en-US" sz="5400" b="1"/>
              <a:t>, A</a:t>
            </a:r>
            <a:r>
              <a:rPr lang="en-US" sz="5400"/>
              <a:t>.; Madan, B.; </a:t>
            </a:r>
            <a:r>
              <a:rPr lang="en-US" sz="5400" b="1"/>
              <a:t>Monaco, D.</a:t>
            </a:r>
            <a:r>
              <a:rPr lang="en-US" sz="5400"/>
              <a:t>; </a:t>
            </a:r>
            <a:r>
              <a:rPr lang="en-US" sz="5400" b="1"/>
              <a:t>Norwood, K</a:t>
            </a:r>
            <a:r>
              <a:rPr lang="en-US" sz="5400"/>
              <a:t>.; Putnam, R.; Rogov, P.; Siegel, J.; Teng, E.; VanDyke, D.; </a:t>
            </a:r>
          </a:p>
          <a:p>
            <a:pPr latinLnBrk="1"/>
            <a:r>
              <a:rPr lang="en-US" sz="5400"/>
              <a:t>Veeraraghavan, J.; </a:t>
            </a:r>
            <a:r>
              <a:rPr lang="en-US" sz="5400" err="1"/>
              <a:t>Zhuravytsky</a:t>
            </a:r>
            <a:r>
              <a:rPr lang="en-US" sz="5400"/>
              <a:t>, K.; Paduch, M.; Weinreb, P.; Villalobos, A.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065E8-8AE5-A34D-B05A-1850247525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05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6F3710-9156-C685-4C0B-025EAE549FB6}"/>
              </a:ext>
            </a:extLst>
          </p:cNvPr>
          <p:cNvSpPr/>
          <p:nvPr userDrawn="1"/>
        </p:nvSpPr>
        <p:spPr>
          <a:xfrm>
            <a:off x="0" y="0"/>
            <a:ext cx="51206400" cy="32918400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/>
              </a:gs>
              <a:gs pos="49000">
                <a:schemeClr val="accent2"/>
              </a:gs>
            </a:gsLst>
            <a:lin ang="162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94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20D62-DE36-9E39-371B-263CF9EE8B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69431" y="7091004"/>
            <a:ext cx="33863281" cy="7330392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8DD8B-F855-560E-F586-3C80CD7CBD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08468" y="16118935"/>
            <a:ext cx="38404800" cy="371589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2E61E40-93ED-5104-B790-F9D2E03EBA3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0838" y="21538409"/>
            <a:ext cx="11843765" cy="69059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E35AF9-78A3-D151-5152-5B9E3CC5DB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8745480" y="-941102"/>
            <a:ext cx="22460920" cy="3412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18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20D62-DE36-9E39-371B-263CF9EE8B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23917" y="2407915"/>
            <a:ext cx="39023342" cy="8059200"/>
          </a:xfrm>
        </p:spPr>
        <p:txBody>
          <a:bodyPr anchor="b">
            <a:norm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8DD8B-F855-560E-F586-3C80CD7CBD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23916" y="12080491"/>
            <a:ext cx="24758698" cy="389438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57114-C09E-C015-DDF9-C9A024FC35A0}"/>
              </a:ext>
            </a:extLst>
          </p:cNvPr>
          <p:cNvSpPr txBox="1"/>
          <p:nvPr userDrawn="1"/>
        </p:nvSpPr>
        <p:spPr>
          <a:xfrm>
            <a:off x="53517339" y="2964084"/>
            <a:ext cx="184731" cy="1315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949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F747226-606C-6BC5-58AC-E75BE7B67E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76940" y="-10522886"/>
            <a:ext cx="47462982" cy="5424340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396691-8C1D-A36C-FA31-C4A1D724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23919" y="28629430"/>
            <a:ext cx="33877767" cy="17526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D1F582-135D-89C0-64A1-6111EFB48A27}"/>
              </a:ext>
            </a:extLst>
          </p:cNvPr>
          <p:cNvCxnSpPr/>
          <p:nvPr userDrawn="1"/>
        </p:nvCxnSpPr>
        <p:spPr>
          <a:xfrm>
            <a:off x="2911583" y="11109413"/>
            <a:ext cx="355166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64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EE450-F96E-3037-C6A5-DE9372A597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20440" y="6067303"/>
            <a:ext cx="44033741" cy="22668610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Details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11F6A8-0B2A-A5CD-81AF-FDD2F4079298}"/>
              </a:ext>
            </a:extLst>
          </p:cNvPr>
          <p:cNvCxnSpPr>
            <a:cxnSpLocks/>
          </p:cNvCxnSpPr>
          <p:nvPr userDrawn="1"/>
        </p:nvCxnSpPr>
        <p:spPr>
          <a:xfrm>
            <a:off x="1857793" y="30510480"/>
            <a:ext cx="47490815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E4CFA539-E3A9-89A1-CE09-B6CBFB6A6C9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9EC0A1-4BE5-C0E5-1B12-66A58817BC52}"/>
              </a:ext>
            </a:extLst>
          </p:cNvPr>
          <p:cNvSpPr txBox="1"/>
          <p:nvPr userDrawn="1"/>
        </p:nvSpPr>
        <p:spPr>
          <a:xfrm>
            <a:off x="1420982" y="30892049"/>
            <a:ext cx="100600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A Flagship Pioneering Company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944579-AEEF-EE2C-C6BA-84CA27DDA6C1}"/>
              </a:ext>
            </a:extLst>
          </p:cNvPr>
          <p:cNvSpPr txBox="1"/>
          <p:nvPr userDrawn="1"/>
        </p:nvSpPr>
        <p:spPr>
          <a:xfrm>
            <a:off x="38445223" y="30993722"/>
            <a:ext cx="109033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61EC2-C4AA-D073-0432-F1F77A288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2" y="1308125"/>
            <a:ext cx="38649538" cy="385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3D7DA7-7506-5DC6-F1E7-A80A7E8D0F55}"/>
              </a:ext>
            </a:extLst>
          </p:cNvPr>
          <p:cNvSpPr txBox="1"/>
          <p:nvPr userDrawn="1"/>
        </p:nvSpPr>
        <p:spPr>
          <a:xfrm>
            <a:off x="20573179" y="30892049"/>
            <a:ext cx="100600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u="none" strike="noStrike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CONFIDENTIAL</a:t>
            </a:r>
            <a:endParaRPr lang="en-US" sz="100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2142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  <p15:guide id="2" pos="1612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11F6A8-0B2A-A5CD-81AF-FDD2F4079298}"/>
              </a:ext>
            </a:extLst>
          </p:cNvPr>
          <p:cNvCxnSpPr>
            <a:cxnSpLocks/>
          </p:cNvCxnSpPr>
          <p:nvPr userDrawn="1"/>
        </p:nvCxnSpPr>
        <p:spPr>
          <a:xfrm>
            <a:off x="1857793" y="30510480"/>
            <a:ext cx="47490815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14CA70A-06C1-CD23-2AC9-899E3A5FA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037690" y="7820947"/>
            <a:ext cx="15648272" cy="1909679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add visual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1EB1962-7654-71DE-8C77-CD5E115A7B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030D3D-29BE-7869-5747-4AD784808EBA}"/>
              </a:ext>
            </a:extLst>
          </p:cNvPr>
          <p:cNvSpPr txBox="1"/>
          <p:nvPr userDrawn="1"/>
        </p:nvSpPr>
        <p:spPr>
          <a:xfrm>
            <a:off x="1420982" y="30892049"/>
            <a:ext cx="296031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A Flagship Pioneering Company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575F2-7F8D-64A6-34F0-736B9A50A0CA}"/>
              </a:ext>
            </a:extLst>
          </p:cNvPr>
          <p:cNvSpPr txBox="1"/>
          <p:nvPr userDrawn="1"/>
        </p:nvSpPr>
        <p:spPr>
          <a:xfrm>
            <a:off x="20383348" y="30993722"/>
            <a:ext cx="28965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3F6AFC-3287-2B94-8BE5-9EABDC0EFA2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20444" y="6035042"/>
            <a:ext cx="26111501" cy="22668610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Details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DBF1587-C41C-ACB2-4AB7-233D3C04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2" y="1308125"/>
            <a:ext cx="38649538" cy="385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78748-F9A9-C1A1-5C6E-9B40328593B9}"/>
              </a:ext>
            </a:extLst>
          </p:cNvPr>
          <p:cNvSpPr txBox="1"/>
          <p:nvPr userDrawn="1"/>
        </p:nvSpPr>
        <p:spPr>
          <a:xfrm>
            <a:off x="20573179" y="30892049"/>
            <a:ext cx="100600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u="none" strike="noStrike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CONFIDENTIAL</a:t>
            </a:r>
            <a:endParaRPr lang="en-US" sz="100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013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A536-60B7-E415-CD17-3078F90A3F5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20440" y="6035071"/>
            <a:ext cx="21762720" cy="22959038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Details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03F75-6B38-473A-5D57-E9BABF2A47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5923240" y="6035071"/>
            <a:ext cx="21762720" cy="22959038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Details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7AE2D6-63F6-9A54-5AB9-6D1FF4B6B515}"/>
              </a:ext>
            </a:extLst>
          </p:cNvPr>
          <p:cNvCxnSpPr>
            <a:cxnSpLocks/>
          </p:cNvCxnSpPr>
          <p:nvPr userDrawn="1"/>
        </p:nvCxnSpPr>
        <p:spPr>
          <a:xfrm>
            <a:off x="1857793" y="30510480"/>
            <a:ext cx="47490815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F996F8FD-160C-FF33-495A-C67C445D01F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6D4899-3428-3D6F-E192-E53270FBC263}"/>
              </a:ext>
            </a:extLst>
          </p:cNvPr>
          <p:cNvSpPr txBox="1"/>
          <p:nvPr userDrawn="1"/>
        </p:nvSpPr>
        <p:spPr>
          <a:xfrm>
            <a:off x="1420982" y="30892049"/>
            <a:ext cx="296031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A Flagship Pioneering Company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021E8-BC6D-866A-E76C-DC461D6A520A}"/>
              </a:ext>
            </a:extLst>
          </p:cNvPr>
          <p:cNvSpPr txBox="1"/>
          <p:nvPr userDrawn="1"/>
        </p:nvSpPr>
        <p:spPr>
          <a:xfrm>
            <a:off x="20383348" y="30993722"/>
            <a:ext cx="28965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E9DBFEC-B9C6-C0A5-8464-D7769897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2" y="1308125"/>
            <a:ext cx="38649538" cy="385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8C38A-7883-F3C3-C900-8E02F934CF94}"/>
              </a:ext>
            </a:extLst>
          </p:cNvPr>
          <p:cNvSpPr txBox="1"/>
          <p:nvPr userDrawn="1"/>
        </p:nvSpPr>
        <p:spPr>
          <a:xfrm>
            <a:off x="20573179" y="30892049"/>
            <a:ext cx="100600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u="none" strike="noStrike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CONFIDENTIAL</a:t>
            </a:r>
            <a:endParaRPr lang="en-US" sz="100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816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A31342-2609-2149-4937-F53DA687DCA5}"/>
              </a:ext>
            </a:extLst>
          </p:cNvPr>
          <p:cNvCxnSpPr>
            <a:cxnSpLocks/>
          </p:cNvCxnSpPr>
          <p:nvPr userDrawn="1"/>
        </p:nvCxnSpPr>
        <p:spPr>
          <a:xfrm>
            <a:off x="1857793" y="30510480"/>
            <a:ext cx="47490815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7DBF1-BF95-2627-6638-ED49AF9E713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20438" y="6035042"/>
            <a:ext cx="10544020" cy="22722821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Details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120F6-CE39-AD21-2348-047C7D43D20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5079407" y="6035042"/>
            <a:ext cx="33134186" cy="22722821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Details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2BBE6C4-B830-75BE-8F3F-941153E1D2B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2DBD50-F546-AE7E-69E1-1FF72C9AADE9}"/>
              </a:ext>
            </a:extLst>
          </p:cNvPr>
          <p:cNvSpPr txBox="1"/>
          <p:nvPr userDrawn="1"/>
        </p:nvSpPr>
        <p:spPr>
          <a:xfrm>
            <a:off x="1420982" y="30892049"/>
            <a:ext cx="296031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A Flagship Pioneering Company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FF53E-05FA-622E-F28F-F8EB6391CF47}"/>
              </a:ext>
            </a:extLst>
          </p:cNvPr>
          <p:cNvSpPr txBox="1"/>
          <p:nvPr userDrawn="1"/>
        </p:nvSpPr>
        <p:spPr>
          <a:xfrm>
            <a:off x="20383348" y="30993722"/>
            <a:ext cx="28965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BEA9425-19D5-79E7-50C6-403F453B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2" y="1308125"/>
            <a:ext cx="38649538" cy="385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B70C6A-F135-1C40-468E-FB17DD4F3CFC}"/>
              </a:ext>
            </a:extLst>
          </p:cNvPr>
          <p:cNvSpPr txBox="1"/>
          <p:nvPr userDrawn="1"/>
        </p:nvSpPr>
        <p:spPr>
          <a:xfrm>
            <a:off x="20573179" y="30892049"/>
            <a:ext cx="100600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u="none" strike="noStrike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CONFIDENTIAL</a:t>
            </a:r>
            <a:endParaRPr lang="en-US" sz="100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029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6B89116-68D7-96CD-DA04-5807BE0345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20440" y="18382769"/>
            <a:ext cx="9021886" cy="9088411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0E3F56E-77A0-10E1-9D3A-111C3FD977A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520442" y="8141628"/>
            <a:ext cx="7952385" cy="9088440"/>
          </a:xfrm>
          <a:prstGeom prst="roundRect">
            <a:avLst/>
          </a:prstGeom>
          <a:ln w="2540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0FECCD13-1E11-7489-6AA7-9C96E3D8044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4348017" y="8141628"/>
            <a:ext cx="7952385" cy="9088440"/>
          </a:xfrm>
          <a:prstGeom prst="roundRect">
            <a:avLst/>
          </a:prstGeom>
          <a:ln w="2540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B7F6A40-8F39-990D-3A3B-27A9C3A0D8E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25112315" y="8141628"/>
            <a:ext cx="7952385" cy="9088440"/>
          </a:xfrm>
          <a:prstGeom prst="roundRect">
            <a:avLst/>
          </a:prstGeom>
          <a:ln w="2540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9850280-B22A-A964-4568-9EBC7BCE36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6049879" y="8146908"/>
            <a:ext cx="7952385" cy="9088440"/>
          </a:xfrm>
          <a:prstGeom prst="roundRect">
            <a:avLst/>
          </a:prstGeom>
          <a:ln w="2540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24C44D8-7EC5-CBDD-6AAC-2A2F6D171B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348015" y="18444118"/>
            <a:ext cx="9021886" cy="9088411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33DC1FE2-4549-68E2-B5A7-870DCC8D1F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112308" y="18382764"/>
            <a:ext cx="9021886" cy="9088411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F0AE8D62-58DE-4DF3-28A3-9B4D35CD03C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027863" y="18382759"/>
            <a:ext cx="9382023" cy="9088411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16C511-CBFB-0FF0-E00F-AB2F16FE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2" y="1308125"/>
            <a:ext cx="38649538" cy="385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04342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A31342-2609-2149-4937-F53DA687DCA5}"/>
              </a:ext>
            </a:extLst>
          </p:cNvPr>
          <p:cNvCxnSpPr>
            <a:cxnSpLocks/>
          </p:cNvCxnSpPr>
          <p:nvPr userDrawn="1"/>
        </p:nvCxnSpPr>
        <p:spPr>
          <a:xfrm>
            <a:off x="1857793" y="30510480"/>
            <a:ext cx="47490815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D8E178-8BBE-426E-9198-FB00DD0011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11828" y="7005790"/>
            <a:ext cx="4877380" cy="5574149"/>
          </a:xfrm>
          <a:prstGeom prst="roundRect">
            <a:avLst/>
          </a:prstGeom>
          <a:ln w="2540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7618135-0F1F-8612-8AD8-A390351FC6C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E25A77F-BC23-0AF4-91F2-BA83D13AE6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02400" y="7256098"/>
            <a:ext cx="15058596" cy="2349494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accent3"/>
                </a:solidFill>
                <a:latin typeface="+mj-lt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First, Last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93CAC49-FB44-430E-2F9E-1C9E619958E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2400" y="10505508"/>
            <a:ext cx="15058596" cy="1744334"/>
          </a:xfrm>
        </p:spPr>
        <p:txBody>
          <a:bodyPr>
            <a:noAutofit/>
          </a:bodyPr>
          <a:lstStyle>
            <a:lvl1pPr>
              <a:defRPr sz="1400" b="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Titles, Titles</a:t>
            </a:r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87D3A143-59D7-68FD-C6D1-2ED04FD179C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511828" y="14583156"/>
            <a:ext cx="4877380" cy="5574149"/>
          </a:xfrm>
          <a:prstGeom prst="roundRect">
            <a:avLst/>
          </a:prstGeom>
          <a:ln w="2540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F8C5A4AA-1543-41E0-B5FF-E1B7CDD8AD1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02400" y="14833464"/>
            <a:ext cx="15058596" cy="2349494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accent3"/>
                </a:solidFill>
                <a:latin typeface="+mj-lt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First, Last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F691B546-906D-45AD-3651-CDCA35C2559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2400" y="18082875"/>
            <a:ext cx="15058596" cy="1744334"/>
          </a:xfrm>
        </p:spPr>
        <p:txBody>
          <a:bodyPr>
            <a:noAutofit/>
          </a:bodyPr>
          <a:lstStyle>
            <a:lvl1pPr>
              <a:defRPr sz="1400" b="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Titles, Titles</a:t>
            </a:r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6A570D09-5B46-125F-DD5C-6E2DC975DA3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511828" y="21948396"/>
            <a:ext cx="4877380" cy="5574149"/>
          </a:xfrm>
          <a:prstGeom prst="roundRect">
            <a:avLst/>
          </a:prstGeom>
          <a:ln w="2540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3FA96A7E-5C12-2F78-50D2-B99ED335205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02400" y="22198704"/>
            <a:ext cx="15058596" cy="2349494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accent3"/>
                </a:solidFill>
                <a:latin typeface="+mj-lt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First, Last</a:t>
            </a:r>
          </a:p>
        </p:txBody>
      </p:sp>
      <p:sp>
        <p:nvSpPr>
          <p:cNvPr id="54" name="Text Placeholder 8">
            <a:extLst>
              <a:ext uri="{FF2B5EF4-FFF2-40B4-BE49-F238E27FC236}">
                <a16:creationId xmlns:a16="http://schemas.microsoft.com/office/drawing/2014/main" id="{9B5532E6-9992-A407-20E0-DFCCC813B0C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02400" y="25448115"/>
            <a:ext cx="15058596" cy="1744334"/>
          </a:xfrm>
        </p:spPr>
        <p:txBody>
          <a:bodyPr>
            <a:noAutofit/>
          </a:bodyPr>
          <a:lstStyle>
            <a:lvl1pPr>
              <a:defRPr sz="1400" b="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Titles, Titles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60B81D33-FBA7-8E5E-A8EB-5F911335E44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6214315" y="7072802"/>
            <a:ext cx="4877380" cy="5574149"/>
          </a:xfrm>
          <a:prstGeom prst="roundRect">
            <a:avLst/>
          </a:prstGeom>
          <a:ln w="2540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6DD68AFE-EC2D-8347-FA88-F6C04332D1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804886" y="7323111"/>
            <a:ext cx="15058596" cy="2349494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accent3"/>
                </a:solidFill>
                <a:latin typeface="+mj-lt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First, Last</a:t>
            </a:r>
          </a:p>
        </p:txBody>
      </p:sp>
      <p:sp>
        <p:nvSpPr>
          <p:cNvPr id="57" name="Text Placeholder 8">
            <a:extLst>
              <a:ext uri="{FF2B5EF4-FFF2-40B4-BE49-F238E27FC236}">
                <a16:creationId xmlns:a16="http://schemas.microsoft.com/office/drawing/2014/main" id="{E3070E5F-7400-2FD0-B452-5E97270A02E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804886" y="10572521"/>
            <a:ext cx="15058596" cy="1744334"/>
          </a:xfrm>
        </p:spPr>
        <p:txBody>
          <a:bodyPr>
            <a:noAutofit/>
          </a:bodyPr>
          <a:lstStyle>
            <a:lvl1pPr>
              <a:defRPr sz="1400" b="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Titles, Titles</a:t>
            </a:r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B8A8C127-481F-6F66-909C-A98AEC1E0E7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6214315" y="14650169"/>
            <a:ext cx="4877380" cy="5574149"/>
          </a:xfrm>
          <a:prstGeom prst="roundRect">
            <a:avLst/>
          </a:prstGeom>
          <a:ln w="2540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8BF9F78E-92FE-C987-244A-C1B5F9D755C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804886" y="14900477"/>
            <a:ext cx="15058596" cy="2349494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accent3"/>
                </a:solidFill>
                <a:latin typeface="+mj-lt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First, Last</a:t>
            </a: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296496B1-DC64-A122-12B5-ACD0693F9B1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04886" y="18149887"/>
            <a:ext cx="15058596" cy="1744334"/>
          </a:xfrm>
        </p:spPr>
        <p:txBody>
          <a:bodyPr>
            <a:noAutofit/>
          </a:bodyPr>
          <a:lstStyle>
            <a:lvl1pPr>
              <a:defRPr sz="1400" b="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Titles, Titles</a:t>
            </a:r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B3008035-E192-16AE-2DFB-F91F7AF1242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6214315" y="22015409"/>
            <a:ext cx="4877380" cy="5574149"/>
          </a:xfrm>
          <a:prstGeom prst="roundRect">
            <a:avLst/>
          </a:prstGeom>
          <a:ln w="2540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1DF4238A-B7D5-7600-526A-127FCC266BB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1804886" y="22265717"/>
            <a:ext cx="15058596" cy="2349494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accent3"/>
                </a:solidFill>
                <a:latin typeface="+mj-lt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First, Last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C3481FDA-0F64-E48E-BC33-EB499A849BD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1804886" y="25515127"/>
            <a:ext cx="15058596" cy="1744334"/>
          </a:xfrm>
        </p:spPr>
        <p:txBody>
          <a:bodyPr>
            <a:noAutofit/>
          </a:bodyPr>
          <a:lstStyle>
            <a:lvl1pPr>
              <a:defRPr sz="1400" b="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  <a:lvl2pPr>
              <a:defRPr sz="1400" b="1"/>
            </a:lvl2pPr>
          </a:lstStyle>
          <a:p>
            <a:pPr lvl="0"/>
            <a:r>
              <a:rPr lang="en-US"/>
              <a:t>Titles, Titles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82105-D412-752C-204F-1378D83797FF}"/>
              </a:ext>
            </a:extLst>
          </p:cNvPr>
          <p:cNvSpPr txBox="1"/>
          <p:nvPr userDrawn="1"/>
        </p:nvSpPr>
        <p:spPr>
          <a:xfrm>
            <a:off x="1420982" y="30892049"/>
            <a:ext cx="296031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A Flagship Pioneering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EC1EF-12AF-EB07-AB90-FBB343832FEB}"/>
              </a:ext>
            </a:extLst>
          </p:cNvPr>
          <p:cNvSpPr txBox="1"/>
          <p:nvPr userDrawn="1"/>
        </p:nvSpPr>
        <p:spPr>
          <a:xfrm>
            <a:off x="20383348" y="30993722"/>
            <a:ext cx="28965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96B70B-E229-590A-A859-678755C7F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2" y="1308125"/>
            <a:ext cx="38649538" cy="385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72695-55E7-8F1E-5ECD-0DC06EFCBFE1}"/>
              </a:ext>
            </a:extLst>
          </p:cNvPr>
          <p:cNvSpPr txBox="1"/>
          <p:nvPr userDrawn="1"/>
        </p:nvSpPr>
        <p:spPr>
          <a:xfrm>
            <a:off x="20573179" y="30892049"/>
            <a:ext cx="100600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u="none" strike="noStrike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CONFIDENTIAL</a:t>
            </a:r>
            <a:endParaRPr lang="en-US" sz="100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173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A31342-2609-2149-4937-F53DA687DCA5}"/>
              </a:ext>
            </a:extLst>
          </p:cNvPr>
          <p:cNvCxnSpPr>
            <a:cxnSpLocks/>
          </p:cNvCxnSpPr>
          <p:nvPr userDrawn="1"/>
        </p:nvCxnSpPr>
        <p:spPr>
          <a:xfrm>
            <a:off x="1857793" y="30510480"/>
            <a:ext cx="47490815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764755D-FE24-089B-B0B4-F147818D92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13775" y="18256258"/>
            <a:ext cx="9209466" cy="7822560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CBF0DD16-49AD-73B3-90F6-FE4FF60BFF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13766" y="6839582"/>
            <a:ext cx="9209474" cy="10525114"/>
          </a:xfrm>
          <a:prstGeom prst="roundRect">
            <a:avLst/>
          </a:prstGeom>
          <a:ln w="25400">
            <a:noFill/>
            <a:miter lim="800000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3981FB47-F80C-EB27-3D9D-09E595C573F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5079409" y="6839587"/>
            <a:ext cx="32606553" cy="19239226"/>
          </a:xfrm>
        </p:spPr>
        <p:txBody>
          <a:bodyPr numCol="2" spcCol="457200"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Details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4DE6007-163E-F86A-AFBB-B60564C2EB1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3CC7A9-70F0-0BEF-0D80-CB2284E0CCAF}"/>
              </a:ext>
            </a:extLst>
          </p:cNvPr>
          <p:cNvSpPr txBox="1"/>
          <p:nvPr userDrawn="1"/>
        </p:nvSpPr>
        <p:spPr>
          <a:xfrm>
            <a:off x="1420982" y="30892049"/>
            <a:ext cx="296031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A Flagship Pioneering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8F2A4A-0764-9A8B-2E54-0DCDCDAFCC22}"/>
              </a:ext>
            </a:extLst>
          </p:cNvPr>
          <p:cNvSpPr txBox="1"/>
          <p:nvPr userDrawn="1"/>
        </p:nvSpPr>
        <p:spPr>
          <a:xfrm>
            <a:off x="20383348" y="30993722"/>
            <a:ext cx="28965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2F45B6C-C983-AE71-83F6-02411D3B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2" y="1308125"/>
            <a:ext cx="38649538" cy="385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072ED3-8518-B8EF-878D-81C2517F8F10}"/>
              </a:ext>
            </a:extLst>
          </p:cNvPr>
          <p:cNvSpPr txBox="1"/>
          <p:nvPr userDrawn="1"/>
        </p:nvSpPr>
        <p:spPr>
          <a:xfrm>
            <a:off x="20573179" y="30892049"/>
            <a:ext cx="100600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u="none" strike="noStrike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CONFIDENTIAL</a:t>
            </a:r>
            <a:endParaRPr lang="en-US" sz="100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9800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n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BEBE6-8A06-B110-4674-3DA3438E16E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29215960" y="6035069"/>
            <a:ext cx="19055400" cy="22722768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to add image/graphics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77CCB3-4647-F61D-CF2C-195682A39B58}"/>
              </a:ext>
            </a:extLst>
          </p:cNvPr>
          <p:cNvCxnSpPr>
            <a:cxnSpLocks/>
          </p:cNvCxnSpPr>
          <p:nvPr userDrawn="1"/>
        </p:nvCxnSpPr>
        <p:spPr>
          <a:xfrm>
            <a:off x="1857793" y="30510480"/>
            <a:ext cx="47490815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13E6A5C-73F6-9B8C-C1F3-F49F400C5C5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20438" y="6035098"/>
            <a:ext cx="23254741" cy="22722768"/>
          </a:xfrm>
        </p:spPr>
        <p:txBody>
          <a:bodyPr/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Details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F8FEE5B-25DB-6CB3-9BFC-42F70AB5051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870C96-9494-F45B-7A8E-6231076E3310}"/>
              </a:ext>
            </a:extLst>
          </p:cNvPr>
          <p:cNvSpPr txBox="1"/>
          <p:nvPr userDrawn="1"/>
        </p:nvSpPr>
        <p:spPr>
          <a:xfrm>
            <a:off x="1420982" y="30892049"/>
            <a:ext cx="296031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A Flagship Pioneering Company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BA4328-B495-33BA-BE0D-F3EB90175B70}"/>
              </a:ext>
            </a:extLst>
          </p:cNvPr>
          <p:cNvSpPr txBox="1"/>
          <p:nvPr userDrawn="1"/>
        </p:nvSpPr>
        <p:spPr>
          <a:xfrm>
            <a:off x="20383348" y="30993722"/>
            <a:ext cx="28965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FCC72A-25B1-F2BB-B3ED-A3570089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2" y="1308125"/>
            <a:ext cx="38649538" cy="385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9E878-40A7-4ADE-0FD7-92D2ABAA3AD5}"/>
              </a:ext>
            </a:extLst>
          </p:cNvPr>
          <p:cNvSpPr txBox="1"/>
          <p:nvPr userDrawn="1"/>
        </p:nvSpPr>
        <p:spPr>
          <a:xfrm>
            <a:off x="20573179" y="30892049"/>
            <a:ext cx="100600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u="none" strike="noStrike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CONFIDENTIAL</a:t>
            </a:r>
            <a:endParaRPr lang="en-US" sz="100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3996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724C6C-301F-BF64-0641-53ADEEA8EFAE}"/>
              </a:ext>
            </a:extLst>
          </p:cNvPr>
          <p:cNvCxnSpPr>
            <a:cxnSpLocks/>
          </p:cNvCxnSpPr>
          <p:nvPr userDrawn="1"/>
        </p:nvCxnSpPr>
        <p:spPr>
          <a:xfrm>
            <a:off x="1857793" y="30510480"/>
            <a:ext cx="47490815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FFC70D1B-BC1D-0D1E-326A-70C03FA59E6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52A6ED-CD87-7CAD-FE8A-DECC30C7EC67}"/>
              </a:ext>
            </a:extLst>
          </p:cNvPr>
          <p:cNvSpPr txBox="1"/>
          <p:nvPr userDrawn="1"/>
        </p:nvSpPr>
        <p:spPr>
          <a:xfrm>
            <a:off x="1420982" y="30892049"/>
            <a:ext cx="296031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A Flagship Pioneering Company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32874-E212-0A05-FD90-9EA440F37310}"/>
              </a:ext>
            </a:extLst>
          </p:cNvPr>
          <p:cNvSpPr txBox="1"/>
          <p:nvPr userDrawn="1"/>
        </p:nvSpPr>
        <p:spPr>
          <a:xfrm>
            <a:off x="20383348" y="30993722"/>
            <a:ext cx="28965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A249D0D-1EA3-1C08-1935-FBD9B466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2" y="1308125"/>
            <a:ext cx="38649538" cy="385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8D5A55-44A9-5FA3-F841-E4FE5EA9704B}"/>
              </a:ext>
            </a:extLst>
          </p:cNvPr>
          <p:cNvSpPr txBox="1"/>
          <p:nvPr userDrawn="1"/>
        </p:nvSpPr>
        <p:spPr>
          <a:xfrm>
            <a:off x="20573179" y="30892049"/>
            <a:ext cx="100600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u="none" strike="noStrike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CONFIDENTIAL</a:t>
            </a:r>
            <a:endParaRPr lang="en-US" sz="100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8454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1D1DCE9-6058-4778-7A68-8AA7F84C0FD4}"/>
              </a:ext>
            </a:extLst>
          </p:cNvPr>
          <p:cNvSpPr/>
          <p:nvPr userDrawn="1"/>
        </p:nvSpPr>
        <p:spPr>
          <a:xfrm>
            <a:off x="0" y="0"/>
            <a:ext cx="51206400" cy="32918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949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3139E2C-C9AB-FB8F-4DA2-C6DFDE22D9C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8278B9-75C1-34AA-F393-733980F99AF8}"/>
              </a:ext>
            </a:extLst>
          </p:cNvPr>
          <p:cNvCxnSpPr/>
          <p:nvPr userDrawn="1"/>
        </p:nvCxnSpPr>
        <p:spPr>
          <a:xfrm>
            <a:off x="3835230" y="17414098"/>
            <a:ext cx="355166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DF591F72-0E5F-DD8A-9571-5AD826F0A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3770" y="5625396"/>
            <a:ext cx="21301367" cy="10539413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C300DA7-C61D-A257-A6FC-21A9628438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93770" y="19577710"/>
            <a:ext cx="21301367" cy="89147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add more text</a:t>
            </a:r>
          </a:p>
        </p:txBody>
      </p:sp>
    </p:spTree>
    <p:extLst>
      <p:ext uri="{BB962C8B-B14F-4D97-AF65-F5344CB8AC3E}">
        <p14:creationId xmlns:p14="http://schemas.microsoft.com/office/powerpoint/2010/main" val="1092681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2E2561-EC30-20B1-6C8D-460DD9FAE753}"/>
              </a:ext>
            </a:extLst>
          </p:cNvPr>
          <p:cNvSpPr/>
          <p:nvPr userDrawn="1"/>
        </p:nvSpPr>
        <p:spPr>
          <a:xfrm>
            <a:off x="0" y="0"/>
            <a:ext cx="51206400" cy="329184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949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1D13161-E2D6-627D-7AE3-48B6CB4580E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2F97039-1282-12EA-16E6-DA46FC6A1FE2}"/>
              </a:ext>
            </a:extLst>
          </p:cNvPr>
          <p:cNvCxnSpPr/>
          <p:nvPr userDrawn="1"/>
        </p:nvCxnSpPr>
        <p:spPr>
          <a:xfrm>
            <a:off x="3835230" y="17414098"/>
            <a:ext cx="355166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F5B86857-37D4-8C4D-77F2-8C932CB88C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3770" y="5625396"/>
            <a:ext cx="21301367" cy="10539413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5A0B1E-6A9A-E8E6-8025-BCF102047F9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93770" y="19577710"/>
            <a:ext cx="21301367" cy="89147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add more text</a:t>
            </a:r>
          </a:p>
        </p:txBody>
      </p:sp>
    </p:spTree>
    <p:extLst>
      <p:ext uri="{BB962C8B-B14F-4D97-AF65-F5344CB8AC3E}">
        <p14:creationId xmlns:p14="http://schemas.microsoft.com/office/powerpoint/2010/main" val="2504670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2E14B12-7A33-965F-E300-ADC868999B2A}"/>
              </a:ext>
            </a:extLst>
          </p:cNvPr>
          <p:cNvSpPr txBox="1"/>
          <p:nvPr userDrawn="1"/>
        </p:nvSpPr>
        <p:spPr>
          <a:xfrm>
            <a:off x="54935565" y="32632154"/>
            <a:ext cx="184731" cy="1315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949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94E773-3925-26D4-9653-D7D711EA10E6}"/>
              </a:ext>
            </a:extLst>
          </p:cNvPr>
          <p:cNvSpPr/>
          <p:nvPr userDrawn="1"/>
        </p:nvSpPr>
        <p:spPr>
          <a:xfrm>
            <a:off x="0" y="0"/>
            <a:ext cx="51206400" cy="32918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949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115702E-86BD-5E2F-05C0-6B92B0230A4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ACBEEB0-AA45-94D0-CF45-7DEAF099BD53}"/>
              </a:ext>
            </a:extLst>
          </p:cNvPr>
          <p:cNvCxnSpPr/>
          <p:nvPr userDrawn="1"/>
        </p:nvCxnSpPr>
        <p:spPr>
          <a:xfrm>
            <a:off x="3835230" y="17414098"/>
            <a:ext cx="355166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BB81AB98-5819-8CA4-1C7A-E5C66ED7FB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3770" y="5625396"/>
            <a:ext cx="21301367" cy="10539413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3B4091C-76B8-B15F-F4CB-45617FCF40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93770" y="19577710"/>
            <a:ext cx="21301367" cy="89147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add more text</a:t>
            </a:r>
          </a:p>
        </p:txBody>
      </p:sp>
    </p:spTree>
    <p:extLst>
      <p:ext uri="{BB962C8B-B14F-4D97-AF65-F5344CB8AC3E}">
        <p14:creationId xmlns:p14="http://schemas.microsoft.com/office/powerpoint/2010/main" val="3599500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25E222F-4CF5-9704-3DEB-FDF9601929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8745480" y="-1201670"/>
            <a:ext cx="22460920" cy="341200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CD8093-76AC-6CDA-8A38-FAB9ECE4ADD1}"/>
              </a:ext>
            </a:extLst>
          </p:cNvPr>
          <p:cNvSpPr/>
          <p:nvPr userDrawn="1"/>
        </p:nvSpPr>
        <p:spPr>
          <a:xfrm rot="5400000" flipH="1">
            <a:off x="28694389" y="10336567"/>
            <a:ext cx="32848584" cy="12175435"/>
          </a:xfrm>
          <a:prstGeom prst="rect">
            <a:avLst/>
          </a:prstGeom>
          <a:gradFill>
            <a:gsLst>
              <a:gs pos="32000">
                <a:srgbClr val="FFFFFF">
                  <a:alpha val="85987"/>
                </a:srgbClr>
              </a:gs>
              <a:gs pos="0">
                <a:schemeClr val="bg2"/>
              </a:gs>
              <a:gs pos="99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94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14B12-7A33-965F-E300-ADC868999B2A}"/>
              </a:ext>
            </a:extLst>
          </p:cNvPr>
          <p:cNvSpPr txBox="1"/>
          <p:nvPr userDrawn="1"/>
        </p:nvSpPr>
        <p:spPr>
          <a:xfrm>
            <a:off x="54935565" y="32632154"/>
            <a:ext cx="184731" cy="1315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949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A88B4-91CA-A5DB-C767-2E9F8ED13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3770" y="5625396"/>
            <a:ext cx="21301367" cy="10539413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CBE5790-95C0-9383-4907-B2C1C18BA2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93770" y="19577710"/>
            <a:ext cx="21301367" cy="89147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add more 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03257B-56F1-AE05-C8E9-D4B3E82B3CB4}"/>
              </a:ext>
            </a:extLst>
          </p:cNvPr>
          <p:cNvCxnSpPr/>
          <p:nvPr userDrawn="1"/>
        </p:nvCxnSpPr>
        <p:spPr>
          <a:xfrm>
            <a:off x="3835230" y="17414098"/>
            <a:ext cx="355166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22034A-DDAD-A7A7-2178-37347B203295}"/>
              </a:ext>
            </a:extLst>
          </p:cNvPr>
          <p:cNvSpPr txBox="1"/>
          <p:nvPr userDrawn="1"/>
        </p:nvSpPr>
        <p:spPr>
          <a:xfrm>
            <a:off x="20383348" y="30993722"/>
            <a:ext cx="28965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65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ird flying in the sky&#10;&#10;Description automatically generated with low confidence">
            <a:extLst>
              <a:ext uri="{FF2B5EF4-FFF2-40B4-BE49-F238E27FC236}">
                <a16:creationId xmlns:a16="http://schemas.microsoft.com/office/drawing/2014/main" id="{9090AF5A-C6E3-7284-3352-37FDA28AB2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04597" y="127882"/>
            <a:ext cx="30001805" cy="326626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E14B12-7A33-965F-E300-ADC868999B2A}"/>
              </a:ext>
            </a:extLst>
          </p:cNvPr>
          <p:cNvSpPr txBox="1"/>
          <p:nvPr userDrawn="1"/>
        </p:nvSpPr>
        <p:spPr>
          <a:xfrm>
            <a:off x="54935565" y="32632154"/>
            <a:ext cx="184731" cy="1315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949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98A129-BCFB-9426-B4D9-3EF0287A6B9B}"/>
              </a:ext>
            </a:extLst>
          </p:cNvPr>
          <p:cNvSpPr/>
          <p:nvPr userDrawn="1"/>
        </p:nvSpPr>
        <p:spPr>
          <a:xfrm rot="5400000" flipH="1">
            <a:off x="28066328" y="9778409"/>
            <a:ext cx="32790610" cy="13489531"/>
          </a:xfrm>
          <a:prstGeom prst="rect">
            <a:avLst/>
          </a:prstGeom>
          <a:gradFill>
            <a:gsLst>
              <a:gs pos="32000">
                <a:srgbClr val="FFFFFF">
                  <a:alpha val="85987"/>
                </a:srgbClr>
              </a:gs>
              <a:gs pos="0">
                <a:schemeClr val="bg2"/>
              </a:gs>
              <a:gs pos="99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949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C3C9B6E-3F8D-2E4B-375E-9F739E73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3770" y="5625396"/>
            <a:ext cx="21301367" cy="10539413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3CB3522-027A-0AF5-3FCA-168D08E3BC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93770" y="19577710"/>
            <a:ext cx="21301367" cy="89147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add more text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6F0223-769E-8DA5-F9B4-EE10056BB6A1}"/>
              </a:ext>
            </a:extLst>
          </p:cNvPr>
          <p:cNvCxnSpPr/>
          <p:nvPr userDrawn="1"/>
        </p:nvCxnSpPr>
        <p:spPr>
          <a:xfrm>
            <a:off x="3835230" y="17414098"/>
            <a:ext cx="355166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78ABE3A-34E1-1934-91A9-74E05B00D6CB}"/>
              </a:ext>
            </a:extLst>
          </p:cNvPr>
          <p:cNvSpPr txBox="1"/>
          <p:nvPr userDrawn="1"/>
        </p:nvSpPr>
        <p:spPr>
          <a:xfrm>
            <a:off x="20383348" y="30993722"/>
            <a:ext cx="28965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559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white moth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9D4F0D7F-3A26-6059-59EF-4122F81C85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95137" y="-9974616"/>
            <a:ext cx="26411263" cy="520648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E14B12-7A33-965F-E300-ADC868999B2A}"/>
              </a:ext>
            </a:extLst>
          </p:cNvPr>
          <p:cNvSpPr txBox="1"/>
          <p:nvPr userDrawn="1"/>
        </p:nvSpPr>
        <p:spPr>
          <a:xfrm>
            <a:off x="54935565" y="32632154"/>
            <a:ext cx="184731" cy="1315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949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A9374C-4833-4DA8-1893-1D1D6ADE9B05}"/>
              </a:ext>
            </a:extLst>
          </p:cNvPr>
          <p:cNvSpPr/>
          <p:nvPr userDrawn="1"/>
        </p:nvSpPr>
        <p:spPr>
          <a:xfrm rot="5400000" flipH="1">
            <a:off x="27998998" y="9710998"/>
            <a:ext cx="32918491" cy="13496318"/>
          </a:xfrm>
          <a:prstGeom prst="rect">
            <a:avLst/>
          </a:prstGeom>
          <a:gradFill>
            <a:gsLst>
              <a:gs pos="32000">
                <a:srgbClr val="FFFFFF">
                  <a:alpha val="85987"/>
                </a:srgbClr>
              </a:gs>
              <a:gs pos="0">
                <a:schemeClr val="bg2"/>
              </a:gs>
              <a:gs pos="99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949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C3FDAD-7A38-7F4C-954F-B042131DDE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3770" y="5625396"/>
            <a:ext cx="21301367" cy="10539413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FDC54A0-07B7-5FC7-DB06-DEC6A10A43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93770" y="19577710"/>
            <a:ext cx="21301367" cy="89147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add more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683C86-470B-9A22-D2DF-044E043A5A41}"/>
              </a:ext>
            </a:extLst>
          </p:cNvPr>
          <p:cNvCxnSpPr/>
          <p:nvPr userDrawn="1"/>
        </p:nvCxnSpPr>
        <p:spPr>
          <a:xfrm>
            <a:off x="3835230" y="17414098"/>
            <a:ext cx="355166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BED0229-3A41-1C5C-FD96-C5627849E748}"/>
              </a:ext>
            </a:extLst>
          </p:cNvPr>
          <p:cNvSpPr txBox="1"/>
          <p:nvPr userDrawn="1"/>
        </p:nvSpPr>
        <p:spPr>
          <a:xfrm>
            <a:off x="20383348" y="30993722"/>
            <a:ext cx="28965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8292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F310748-AE2B-E094-0BF4-53207D2FEC7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09" t="28775" r="7003" b="28073"/>
          <a:stretch/>
        </p:blipFill>
        <p:spPr>
          <a:xfrm>
            <a:off x="42510678" y="2113764"/>
            <a:ext cx="6837928" cy="197110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FABDE7-EC53-F6C1-DC77-1A5412267FB3}"/>
              </a:ext>
            </a:extLst>
          </p:cNvPr>
          <p:cNvCxnSpPr>
            <a:cxnSpLocks/>
          </p:cNvCxnSpPr>
          <p:nvPr userDrawn="1"/>
        </p:nvCxnSpPr>
        <p:spPr>
          <a:xfrm>
            <a:off x="1857793" y="30510480"/>
            <a:ext cx="47490815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5E3F21A-9D36-D74C-8126-E393B3CF56A8}"/>
              </a:ext>
            </a:extLst>
          </p:cNvPr>
          <p:cNvSpPr txBox="1"/>
          <p:nvPr userDrawn="1"/>
        </p:nvSpPr>
        <p:spPr>
          <a:xfrm>
            <a:off x="1420982" y="30892049"/>
            <a:ext cx="296031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>
                    <a:lumMod val="75000"/>
                  </a:schemeClr>
                </a:solidFill>
              </a:rPr>
              <a:t>A Flagship Pioneering Company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13B0D-D86D-5715-7068-3967DF99EA22}"/>
              </a:ext>
            </a:extLst>
          </p:cNvPr>
          <p:cNvSpPr txBox="1"/>
          <p:nvPr userDrawn="1"/>
        </p:nvSpPr>
        <p:spPr>
          <a:xfrm>
            <a:off x="20383348" y="30993722"/>
            <a:ext cx="28965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D2F2336-43CF-CE46-9CFC-0A5607227CE6}" type="slidenum">
              <a:rPr lang="en-US" sz="1000" smtClean="0">
                <a:solidFill>
                  <a:schemeClr val="accent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en-US" sz="10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0289B-622F-7DC9-954E-F94437132B84}"/>
              </a:ext>
            </a:extLst>
          </p:cNvPr>
          <p:cNvSpPr txBox="1"/>
          <p:nvPr userDrawn="1"/>
        </p:nvSpPr>
        <p:spPr>
          <a:xfrm>
            <a:off x="20573179" y="30892049"/>
            <a:ext cx="100600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u="none" strike="noStrike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CONFIDENTIAL</a:t>
            </a:r>
            <a:endParaRPr lang="en-US" sz="100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732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B275859-131B-C249-1D52-0DAC94B5AC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47572226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7772400" imgH="10058400" progId="TCLayout.ActiveDocument.1">
                  <p:embed/>
                </p:oleObj>
              </mc:Choice>
              <mc:Fallback>
                <p:oleObj name="think-cell Slide" r:id="rId21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B275859-131B-C249-1D52-0DAC94B5AC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A9899-7F99-3357-FDC1-4C3913032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1308125"/>
            <a:ext cx="44165520" cy="385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A88D5-677C-A2C4-4B97-68593D5C8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0440" y="6067318"/>
            <a:ext cx="44165520" cy="23582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Normal Text</a:t>
            </a:r>
          </a:p>
          <a:p>
            <a:pPr lvl="1"/>
            <a:r>
              <a:rPr lang="en-US"/>
              <a:t>Heading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230692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50" r:id="rId3"/>
    <p:sldLayoutId id="2147483672" r:id="rId4"/>
    <p:sldLayoutId id="2147483668" r:id="rId5"/>
    <p:sldLayoutId id="2147483670" r:id="rId6"/>
    <p:sldLayoutId id="2147483687" r:id="rId7"/>
    <p:sldLayoutId id="2147483685" r:id="rId8"/>
    <p:sldLayoutId id="2147483686" r:id="rId9"/>
    <p:sldLayoutId id="2147483671" r:id="rId10"/>
    <p:sldLayoutId id="2147483669" r:id="rId11"/>
    <p:sldLayoutId id="2147483651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55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2"/>
          </a:solidFill>
          <a:latin typeface="+mn-lt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400" kern="1200">
          <a:solidFill>
            <a:schemeClr val="tx1">
              <a:lumMod val="95000"/>
              <a:lumOff val="5000"/>
            </a:schemeClr>
          </a:solidFill>
          <a:latin typeface="Century Gothic" panose="020B0502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/>
        <a:defRPr sz="2800" kern="1200">
          <a:solidFill>
            <a:schemeClr val="accent1"/>
          </a:solidFill>
          <a:latin typeface="Century Gothic" panose="020B0502020202020204" pitchFamily="34" charset="0"/>
          <a:ea typeface="+mn-ea"/>
          <a:cs typeface="+mn-cs"/>
        </a:defRPr>
      </a:lvl2pPr>
      <a:lvl3pPr marL="212725" indent="-212725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tabLst/>
        <a:defRPr sz="1400" kern="1200">
          <a:solidFill>
            <a:schemeClr val="tx1">
              <a:lumMod val="95000"/>
              <a:lumOff val="5000"/>
            </a:schemeClr>
          </a:solidFill>
          <a:latin typeface="Century Gothic" panose="020B0502020202020204" pitchFamily="34" charset="0"/>
          <a:ea typeface="+mn-ea"/>
          <a:cs typeface="+mn-cs"/>
        </a:defRPr>
      </a:lvl3pPr>
      <a:lvl4pPr marL="406400" indent="-2032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tx1">
              <a:lumMod val="95000"/>
              <a:lumOff val="5000"/>
            </a:schemeClr>
          </a:solidFill>
          <a:latin typeface="Century Gothic" panose="020B0502020202020204" pitchFamily="34" charset="0"/>
          <a:ea typeface="+mn-ea"/>
          <a:cs typeface="+mn-cs"/>
        </a:defRPr>
      </a:lvl4pPr>
      <a:lvl5pPr marL="628650" indent="-201168" algn="l" defTabSz="9144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2"/>
        </a:buClr>
        <a:buFont typeface="Wingdings" pitchFamily="2" charset="2"/>
        <a:buChar char="§"/>
        <a:tabLst/>
        <a:defRPr sz="1400" kern="1200">
          <a:solidFill>
            <a:schemeClr val="tx1">
              <a:lumMod val="95000"/>
              <a:lumOff val="5000"/>
            </a:schemeClr>
          </a:solidFill>
          <a:latin typeface="Century Gothic" panose="020B0502020202020204" pitchFamily="34" charset="0"/>
          <a:ea typeface="+mn-ea"/>
          <a:cs typeface="+mn-cs"/>
        </a:defRPr>
      </a:lvl5pPr>
      <a:lvl6pPr marL="863600" indent="-201168" algn="l" defTabSz="9144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bg1">
            <a:lumMod val="50000"/>
          </a:schemeClr>
        </a:buClr>
        <a:buFont typeface="Wingdings" pitchFamily="2" charset="2"/>
        <a:buChar char="§"/>
        <a:tabLst>
          <a:tab pos="741363" algn="l"/>
        </a:tabLst>
        <a:defRPr sz="1400" kern="1200">
          <a:solidFill>
            <a:schemeClr val="tx1">
              <a:lumMod val="95000"/>
              <a:lumOff val="5000"/>
            </a:schemeClr>
          </a:solidFill>
          <a:latin typeface="Century Gothic" panose="020B0502020202020204" pitchFamily="34" charset="0"/>
          <a:ea typeface="+mn-ea"/>
          <a:cs typeface="+mn-cs"/>
        </a:defRPr>
      </a:lvl6pPr>
      <a:lvl7pPr marL="9525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>
          <a:solidFill>
            <a:schemeClr val="bg1">
              <a:lumMod val="50000"/>
            </a:schemeClr>
          </a:solidFill>
          <a:latin typeface="Century Gothic" panose="020B050202020202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0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24.png"/><Relationship Id="rId7" Type="http://schemas.openxmlformats.org/officeDocument/2006/relationships/image" Target="../media/image11.emf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tags" Target="../tags/tag3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3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A5CB6-5F1C-EC24-31FC-A69AD747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73B5818-FFE6-9B2E-DE66-C568F4492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6488" y="8564489"/>
            <a:ext cx="8737922" cy="88344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89ED5A-4A78-5552-0557-B31837AEE8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573" t="7774" r="12746" b="8288"/>
          <a:stretch>
            <a:fillRect/>
          </a:stretch>
        </p:blipFill>
        <p:spPr>
          <a:xfrm>
            <a:off x="26494115" y="19592859"/>
            <a:ext cx="5400304" cy="4750065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1DE3C399-D98A-394A-EB5C-E353ED7E65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1DE3C399-D98A-394A-EB5C-E353ED7E65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482B7A51-F963-1D21-19B2-46C3625679E6}"/>
              </a:ext>
            </a:extLst>
          </p:cNvPr>
          <p:cNvGrpSpPr/>
          <p:nvPr/>
        </p:nvGrpSpPr>
        <p:grpSpPr>
          <a:xfrm>
            <a:off x="0" y="-45148"/>
            <a:ext cx="51206400" cy="3657600"/>
            <a:chOff x="0" y="-45148"/>
            <a:chExt cx="51206400" cy="36576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6D49C32-F10D-9BE7-42F4-297F601B98BE}"/>
                </a:ext>
              </a:extLst>
            </p:cNvPr>
            <p:cNvSpPr/>
            <p:nvPr/>
          </p:nvSpPr>
          <p:spPr>
            <a:xfrm>
              <a:off x="39480565" y="-45148"/>
              <a:ext cx="11725835" cy="3657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97280" rtlCol="0" anchor="ctr"/>
            <a:lstStyle/>
            <a:p>
              <a:endParaRPr lang="en-US" sz="5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8BB56C-F14A-1855-FECF-FD13E69703F2}"/>
                </a:ext>
              </a:extLst>
            </p:cNvPr>
            <p:cNvSpPr/>
            <p:nvPr/>
          </p:nvSpPr>
          <p:spPr>
            <a:xfrm>
              <a:off x="0" y="-45148"/>
              <a:ext cx="39480565" cy="3657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97280" tIns="45720" rIns="91440" bIns="45720" rtlCol="0" anchor="ctr"/>
            <a:lstStyle/>
            <a:p>
              <a:r>
                <a:rPr lang="en-US" sz="8400" b="1"/>
                <a:t>Multi-Specific Molecule Discovery With The </a:t>
              </a:r>
              <a:r>
                <a:rPr lang="en-US" sz="8400" b="1" dirty="0" err="1"/>
                <a:t>Metaphore</a:t>
              </a:r>
              <a:r>
                <a:rPr lang="en-US" sz="8400" b="1" dirty="0"/>
                <a:t> Knowledge Base</a:t>
              </a:r>
            </a:p>
            <a:p>
              <a:pPr latinLnBrk="1">
                <a:spcBef>
                  <a:spcPts val="1600"/>
                </a:spcBef>
              </a:pPr>
              <a:r>
                <a:rPr lang="en-US" sz="4000" dirty="0"/>
                <a:t>Brian Fochtman, Connie Brett, Todd Brett, Tara Friedrich, Adam Kraut, Pei Lin, Daniel Monaco, Katherine Norwood, Anna </a:t>
              </a:r>
              <a:r>
                <a:rPr lang="en-US" sz="4000" dirty="0" err="1"/>
                <a:t>Lyubetskaya</a:t>
              </a:r>
              <a:endParaRPr lang="en-US" sz="4000" dirty="0"/>
            </a:p>
          </p:txBody>
        </p:sp>
        <p:pic>
          <p:nvPicPr>
            <p:cNvPr id="12" name="Picture 11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1F48F281-AAC9-556E-CA9B-1E5E79B79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004433" y="675103"/>
              <a:ext cx="10287565" cy="237004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8841222-F1E6-A07B-DBE6-014E821E8850}"/>
              </a:ext>
            </a:extLst>
          </p:cNvPr>
          <p:cNvSpPr/>
          <p:nvPr/>
        </p:nvSpPr>
        <p:spPr>
          <a:xfrm>
            <a:off x="0" y="32243296"/>
            <a:ext cx="25603200" cy="6751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0" rtlCol="0" anchor="ctr"/>
          <a:lstStyle/>
          <a:p>
            <a:r>
              <a:rPr lang="en-US" sz="3200"/>
              <a:t>22</a:t>
            </a:r>
            <a:r>
              <a:rPr lang="en-US" sz="3200" baseline="30000"/>
              <a:t>nd</a:t>
            </a:r>
            <a:r>
              <a:rPr lang="en-US" sz="3200"/>
              <a:t> Annual Protein and Antibody Engineering Summit (PEGS)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7FBE1A-0DF4-30BB-7CA3-BA83A8343827}"/>
              </a:ext>
            </a:extLst>
          </p:cNvPr>
          <p:cNvSpPr/>
          <p:nvPr/>
        </p:nvSpPr>
        <p:spPr>
          <a:xfrm>
            <a:off x="25710471" y="32243296"/>
            <a:ext cx="25608152" cy="6751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0" rIns="1097280" rtlCol="0" anchor="ctr"/>
          <a:lstStyle/>
          <a:p>
            <a:pPr algn="r"/>
            <a:r>
              <a:rPr lang="en-US" sz="3200"/>
              <a:t>May 2026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0DF203-44EE-89FD-E854-4D93CB3DF9F3}"/>
              </a:ext>
            </a:extLst>
          </p:cNvPr>
          <p:cNvSpPr/>
          <p:nvPr/>
        </p:nvSpPr>
        <p:spPr>
          <a:xfrm>
            <a:off x="25891358" y="24997590"/>
            <a:ext cx="24688800" cy="636886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1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78CCA05-9845-8D3F-EAF2-780B48EEEF45}"/>
              </a:ext>
            </a:extLst>
          </p:cNvPr>
          <p:cNvSpPr/>
          <p:nvPr/>
        </p:nvSpPr>
        <p:spPr>
          <a:xfrm>
            <a:off x="25891358" y="24997589"/>
            <a:ext cx="24688800" cy="1407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45720" rIns="91440" bIns="45720" rtlCol="0" anchor="ctr"/>
          <a:lstStyle/>
          <a:p>
            <a:r>
              <a:rPr lang="en-US" sz="4400" b="1"/>
              <a:t>Conclusions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E32216-A03B-D2A1-3B4A-49D060E1C1BA}"/>
              </a:ext>
            </a:extLst>
          </p:cNvPr>
          <p:cNvSpPr txBox="1"/>
          <p:nvPr/>
        </p:nvSpPr>
        <p:spPr>
          <a:xfrm>
            <a:off x="28417662" y="26986564"/>
            <a:ext cx="2187433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3200"/>
              <a:t>The </a:t>
            </a:r>
            <a:r>
              <a:rPr lang="en-US" sz="3200" err="1"/>
              <a:t>Metaphore</a:t>
            </a:r>
            <a:r>
              <a:rPr lang="en-US" sz="3200"/>
              <a:t> platform robustly identifies multi-targeting therapeutic molecules. 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3200"/>
              <a:t>A combination of high-throughput screening, an end-to-end analytical framework enabling dynamic data exploration (</a:t>
            </a:r>
            <a:r>
              <a:rPr lang="en-US" sz="3200" err="1"/>
              <a:t>Metaphore</a:t>
            </a:r>
            <a:r>
              <a:rPr lang="en-US" sz="3200"/>
              <a:t> Knowledge Base), and comprehensive characterization of molecules results in a deep queue of candidate molecules.</a:t>
            </a:r>
            <a:endParaRPr lang="en-US" sz="3200">
              <a:solidFill>
                <a:schemeClr val="accent2"/>
              </a:solidFill>
            </a:endParaRP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3200">
              <a:solidFill>
                <a:schemeClr val="accent2"/>
              </a:solidFill>
            </a:endParaRP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3200"/>
              <a:t>The continued dataset ingestion, iterative data integration and augmentation, and AI/ML extension of our toolkit ensures continuous improvement and accelerated therapeutic discovery.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8EB1721-F2BD-93A8-2EA7-06A62D837C2E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email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20464" y="26506536"/>
            <a:ext cx="3125628" cy="4747180"/>
          </a:xfrm>
          <a:prstGeom prst="rect">
            <a:avLst/>
          </a:prstGeom>
        </p:spPr>
      </p:pic>
      <p:sp>
        <p:nvSpPr>
          <p:cNvPr id="1039" name="TextBox 1038">
            <a:extLst>
              <a:ext uri="{FF2B5EF4-FFF2-40B4-BE49-F238E27FC236}">
                <a16:creationId xmlns:a16="http://schemas.microsoft.com/office/drawing/2014/main" id="{D876AD93-0AD2-0C27-1257-AA8A253EF36D}"/>
              </a:ext>
            </a:extLst>
          </p:cNvPr>
          <p:cNvSpPr txBox="1"/>
          <p:nvPr/>
        </p:nvSpPr>
        <p:spPr>
          <a:xfrm>
            <a:off x="579120" y="31585415"/>
            <a:ext cx="30403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(1) </a:t>
            </a:r>
            <a:r>
              <a:rPr lang="en-US" sz="200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Steinegger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000" i="1">
                <a:solidFill>
                  <a:schemeClr val="tx1">
                    <a:lumMod val="50000"/>
                    <a:lumOff val="50000"/>
                  </a:schemeClr>
                </a:solidFill>
              </a:rPr>
              <a:t>et al. </a:t>
            </a:r>
            <a:r>
              <a:rPr lang="en-US" sz="2000" i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NatureBiotechnology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2017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2926D8C-E229-39FA-FEA5-CE704E99074B}"/>
              </a:ext>
            </a:extLst>
          </p:cNvPr>
          <p:cNvSpPr/>
          <p:nvPr/>
        </p:nvSpPr>
        <p:spPr>
          <a:xfrm>
            <a:off x="624839" y="4144500"/>
            <a:ext cx="24688800" cy="872937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1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F93521F-8A49-11F1-8FD6-3FCB41E216F5}"/>
              </a:ext>
            </a:extLst>
          </p:cNvPr>
          <p:cNvSpPr/>
          <p:nvPr/>
        </p:nvSpPr>
        <p:spPr>
          <a:xfrm>
            <a:off x="624839" y="4161270"/>
            <a:ext cx="24688800" cy="1466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r>
              <a:rPr lang="en-US" sz="4400" b="1"/>
              <a:t>Multi-specific drug discovery – finding the needle in a haystack, with precision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17F0E2-E168-6223-9672-9A031EB5D3C5}"/>
              </a:ext>
            </a:extLst>
          </p:cNvPr>
          <p:cNvSpPr/>
          <p:nvPr/>
        </p:nvSpPr>
        <p:spPr>
          <a:xfrm>
            <a:off x="624839" y="13361280"/>
            <a:ext cx="24688800" cy="1800517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1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9C0026-172C-DCED-BFEB-5E142CFA1750}"/>
              </a:ext>
            </a:extLst>
          </p:cNvPr>
          <p:cNvSpPr/>
          <p:nvPr/>
        </p:nvSpPr>
        <p:spPr>
          <a:xfrm>
            <a:off x="624839" y="13361280"/>
            <a:ext cx="24688800" cy="1408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r>
              <a:rPr lang="en-US" sz="4400" b="1"/>
              <a:t>Big data enabled knowledge base enables rapid multi-targeting antibody nomination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35EA4270-7ABF-367D-FCA4-5866E97B99CC}"/>
              </a:ext>
            </a:extLst>
          </p:cNvPr>
          <p:cNvSpPr/>
          <p:nvPr/>
        </p:nvSpPr>
        <p:spPr>
          <a:xfrm>
            <a:off x="25891358" y="4144500"/>
            <a:ext cx="24688800" cy="2042524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1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9D97DAA5-10A8-7D09-BB7D-7F245EB85683}"/>
              </a:ext>
            </a:extLst>
          </p:cNvPr>
          <p:cNvSpPr/>
          <p:nvPr/>
        </p:nvSpPr>
        <p:spPr>
          <a:xfrm>
            <a:off x="25891358" y="4161270"/>
            <a:ext cx="24688800" cy="1435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r>
              <a:rPr lang="en-US" sz="4400" b="1"/>
              <a:t>Multi-targeting antibody nomination framework produces validated triple-agonists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D899B8-4461-B351-E3B8-F85F594B2112}"/>
              </a:ext>
            </a:extLst>
          </p:cNvPr>
          <p:cNvSpPr txBox="1"/>
          <p:nvPr/>
        </p:nvSpPr>
        <p:spPr>
          <a:xfrm>
            <a:off x="38638109" y="17844877"/>
            <a:ext cx="11512280" cy="12926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7000">
                <a:srgbClr val="AE6699"/>
              </a:gs>
              <a:gs pos="95000">
                <a:schemeClr val="bg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1" tIns="91440" rIns="274321" bIns="91440" rtlCol="0" anchor="ctr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3600">
                <a:solidFill>
                  <a:schemeClr val="accent1">
                    <a:lumMod val="90000"/>
                    <a:lumOff val="10000"/>
                  </a:schemeClr>
                </a:solidFill>
              </a:rPr>
              <a:t>Further validated antibody optimization enabled by deep mutational scanning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8C3E0263-03E7-F578-7606-FD8B040F172F}"/>
              </a:ext>
            </a:extLst>
          </p:cNvPr>
          <p:cNvSpPr txBox="1"/>
          <p:nvPr/>
        </p:nvSpPr>
        <p:spPr>
          <a:xfrm>
            <a:off x="38638108" y="19240364"/>
            <a:ext cx="11512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Framework mutations increase antibody fitness to multiple targets. </a:t>
            </a:r>
            <a:endParaRPr lang="en-US" sz="2800" b="1"/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286754AA-9C34-3202-3E76-BBB392B9312A}"/>
              </a:ext>
            </a:extLst>
          </p:cNvPr>
          <p:cNvSpPr txBox="1"/>
          <p:nvPr/>
        </p:nvSpPr>
        <p:spPr>
          <a:xfrm>
            <a:off x="948910" y="5814276"/>
            <a:ext cx="239332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The identification of a therapeutic antibody agonist capable of acting on multiple targets is a challenging problem, unsolved by the recent advances in high-throughput antibody screening. The </a:t>
            </a:r>
            <a:r>
              <a:rPr lang="en-US" sz="2800" err="1"/>
              <a:t>Metaphore</a:t>
            </a:r>
            <a:r>
              <a:rPr lang="en-US" sz="2800"/>
              <a:t> strategy to reliably pinpoint such multi-specific molecules combines 1) large screens with a range of enrichment conditions with 2) integrated analytical knowledge systems to flexibly nominate molecules for testing. Here, we demonstrate the success of this framework at identifying validated multi-targeting molecules.</a:t>
            </a:r>
            <a:endParaRPr lang="en-US" sz="2800" b="1"/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90C49A2D-AD65-2D12-5180-13D5B159C3E0}"/>
              </a:ext>
            </a:extLst>
          </p:cNvPr>
          <p:cNvSpPr txBox="1"/>
          <p:nvPr/>
        </p:nvSpPr>
        <p:spPr>
          <a:xfrm>
            <a:off x="26500303" y="17844877"/>
            <a:ext cx="11321868" cy="12926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7000">
                <a:srgbClr val="AE6699"/>
              </a:gs>
              <a:gs pos="95000">
                <a:schemeClr val="bg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1" tIns="91440" rIns="274321" bIns="91440" rtlCol="0" anchor="ctr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3600">
                <a:solidFill>
                  <a:schemeClr val="accent1">
                    <a:lumMod val="90000"/>
                    <a:lumOff val="10000"/>
                  </a:schemeClr>
                </a:solidFill>
              </a:rPr>
              <a:t>Multi-targeting antibodies validate for agonism in the context of complex molecular modalities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ADAC3-75FF-D8EE-9B23-5DD22E8EAA75}"/>
              </a:ext>
            </a:extLst>
          </p:cNvPr>
          <p:cNvSpPr txBox="1"/>
          <p:nvPr/>
        </p:nvSpPr>
        <p:spPr>
          <a:xfrm>
            <a:off x="38638108" y="5814276"/>
            <a:ext cx="11512280" cy="12926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7000">
                <a:srgbClr val="AE6699"/>
              </a:gs>
              <a:gs pos="95000">
                <a:schemeClr val="bg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1" tIns="91440" rIns="274321" bIns="91440" rtlCol="0" anchor="ctr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3600">
                <a:solidFill>
                  <a:schemeClr val="accent1">
                    <a:lumMod val="90000"/>
                    <a:lumOff val="10000"/>
                  </a:schemeClr>
                </a:solidFill>
              </a:rPr>
              <a:t>Antibody nomination for validation accounts for sequence diversity and developability properties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C8A185F1-5F46-FAC6-C8FF-AEDCA9B3F25D}"/>
              </a:ext>
            </a:extLst>
          </p:cNvPr>
          <p:cNvSpPr txBox="1"/>
          <p:nvPr/>
        </p:nvSpPr>
        <p:spPr>
          <a:xfrm>
            <a:off x="26500303" y="5814276"/>
            <a:ext cx="11393943" cy="12926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7000">
                <a:srgbClr val="AE6699"/>
              </a:gs>
              <a:gs pos="95000">
                <a:schemeClr val="bg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1" tIns="91440" rIns="274321" bIns="91440" rtlCol="0" anchor="ctr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3600">
                <a:solidFill>
                  <a:schemeClr val="accent1">
                    <a:lumMod val="90000"/>
                    <a:lumOff val="10000"/>
                  </a:schemeClr>
                </a:solidFill>
              </a:rPr>
              <a:t>Diverse </a:t>
            </a:r>
            <a:r>
              <a:rPr lang="en-US" sz="3600" err="1">
                <a:solidFill>
                  <a:schemeClr val="accent1">
                    <a:lumMod val="90000"/>
                    <a:lumOff val="10000"/>
                  </a:schemeClr>
                </a:solidFill>
              </a:rPr>
              <a:t>biopanning</a:t>
            </a:r>
            <a:r>
              <a:rPr lang="en-US" sz="3600">
                <a:solidFill>
                  <a:schemeClr val="accent1">
                    <a:lumMod val="90000"/>
                    <a:lumOff val="10000"/>
                  </a:schemeClr>
                </a:solidFill>
              </a:rPr>
              <a:t> strategies yield 466K early multi-targeting antibody candidates</a:t>
            </a:r>
          </a:p>
        </p:txBody>
      </p:sp>
      <p:sp>
        <p:nvSpPr>
          <p:cNvPr id="5006" name="TextBox 5005">
            <a:extLst>
              <a:ext uri="{FF2B5EF4-FFF2-40B4-BE49-F238E27FC236}">
                <a16:creationId xmlns:a16="http://schemas.microsoft.com/office/drawing/2014/main" id="{10362DE4-A015-0505-BA0B-D665923DDE5C}"/>
              </a:ext>
            </a:extLst>
          </p:cNvPr>
          <p:cNvSpPr txBox="1"/>
          <p:nvPr/>
        </p:nvSpPr>
        <p:spPr>
          <a:xfrm>
            <a:off x="26500303" y="7288615"/>
            <a:ext cx="113939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err="1"/>
              <a:t>Biopanning</a:t>
            </a:r>
            <a:r>
              <a:rPr lang="en-US" sz="2800"/>
              <a:t> enrichment (</a:t>
            </a:r>
            <a:r>
              <a:rPr lang="en-US" sz="2800" i="1"/>
              <a:t>percentile</a:t>
            </a:r>
            <a:r>
              <a:rPr lang="en-US" sz="2800"/>
              <a:t>) over multiple rounds (</a:t>
            </a:r>
            <a:r>
              <a:rPr lang="en-US" sz="2800" i="1"/>
              <a:t>round</a:t>
            </a:r>
            <a:r>
              <a:rPr lang="en-US" sz="2800"/>
              <a:t>) and conditions (</a:t>
            </a:r>
            <a:r>
              <a:rPr lang="en-US" sz="2800" i="1"/>
              <a:t>columns</a:t>
            </a:r>
            <a:r>
              <a:rPr lang="en-US" sz="2800"/>
              <a:t>) for 80 select triple-specific (</a:t>
            </a:r>
            <a:r>
              <a:rPr lang="en-US" sz="2800" i="1"/>
              <a:t>target</a:t>
            </a:r>
            <a:r>
              <a:rPr lang="en-US" sz="2800"/>
              <a:t>) antibody families (</a:t>
            </a:r>
            <a:r>
              <a:rPr lang="en-US" sz="2800" i="1"/>
              <a:t>cl. id</a:t>
            </a:r>
            <a:r>
              <a:rPr lang="en-US" sz="2800"/>
              <a:t>), each including at least 50 distinct antibody sequences (rows and </a:t>
            </a:r>
            <a:r>
              <a:rPr lang="en-US" sz="2800" i="1"/>
              <a:t>cl. size</a:t>
            </a:r>
            <a:r>
              <a:rPr lang="en-US" sz="2800"/>
              <a:t>).</a:t>
            </a:r>
            <a:endParaRPr lang="en-US" sz="2800" b="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EF51B35-8D2D-0597-9EC5-3584F44E87F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6741155" y="9321273"/>
            <a:ext cx="10928043" cy="85413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52E64E9-8F9A-C70B-BE97-C6871FCA734F}"/>
              </a:ext>
            </a:extLst>
          </p:cNvPr>
          <p:cNvSpPr txBox="1"/>
          <p:nvPr/>
        </p:nvSpPr>
        <p:spPr>
          <a:xfrm>
            <a:off x="38638108" y="7288615"/>
            <a:ext cx="115122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Representative 197 </a:t>
            </a:r>
            <a:r>
              <a:rPr lang="en-US" sz="2800" b="1">
                <a:solidFill>
                  <a:srgbClr val="C990C0"/>
                </a:solidFill>
              </a:rPr>
              <a:t>antibodies</a:t>
            </a:r>
            <a:r>
              <a:rPr lang="en-US" sz="2800"/>
              <a:t> with strongest triple-specific </a:t>
            </a:r>
            <a:r>
              <a:rPr lang="en-US" sz="2800" b="1">
                <a:solidFill>
                  <a:srgbClr val="228B22"/>
                </a:solidFill>
              </a:rPr>
              <a:t>target</a:t>
            </a:r>
            <a:r>
              <a:rPr lang="en-US" sz="2800"/>
              <a:t> </a:t>
            </a:r>
            <a:r>
              <a:rPr lang="en-US" sz="2800" b="1">
                <a:solidFill>
                  <a:schemeClr val="bg1">
                    <a:lumMod val="50000"/>
                  </a:schemeClr>
                </a:solidFill>
              </a:rPr>
              <a:t>enrichment</a:t>
            </a:r>
            <a:r>
              <a:rPr lang="en-US" sz="2800"/>
              <a:t> form 27 </a:t>
            </a:r>
            <a:r>
              <a:rPr lang="en-US" sz="2800" b="1">
                <a:solidFill>
                  <a:srgbClr val="F68787"/>
                </a:solidFill>
              </a:rPr>
              <a:t>families</a:t>
            </a:r>
            <a:r>
              <a:rPr lang="en-US" sz="2800"/>
              <a:t> by sequence similarity. 9 shown antibodies</a:t>
            </a:r>
            <a:r>
              <a:rPr lang="en-US" sz="2800" b="1">
                <a:solidFill>
                  <a:srgbClr val="870072"/>
                </a:solidFill>
              </a:rPr>
              <a:t> nominated</a:t>
            </a:r>
            <a:r>
              <a:rPr lang="en-US" sz="2800"/>
              <a:t> for production, validation, and characterization.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E1430B-30B3-7F47-FBED-769351D916E9}"/>
              </a:ext>
            </a:extLst>
          </p:cNvPr>
          <p:cNvSpPr txBox="1"/>
          <p:nvPr/>
        </p:nvSpPr>
        <p:spPr>
          <a:xfrm>
            <a:off x="38638109" y="16378536"/>
            <a:ext cx="36630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Family with </a:t>
            </a:r>
            <a:r>
              <a:rPr lang="en-US" sz="2800">
                <a:solidFill>
                  <a:srgbClr val="CC0000"/>
                </a:solidFill>
              </a:rPr>
              <a:t>high</a:t>
            </a:r>
            <a:r>
              <a:rPr lang="en-US" sz="2800"/>
              <a:t> sequence similarity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85C463-B831-17D5-802D-500F747746C6}"/>
              </a:ext>
            </a:extLst>
          </p:cNvPr>
          <p:cNvSpPr txBox="1"/>
          <p:nvPr/>
        </p:nvSpPr>
        <p:spPr>
          <a:xfrm>
            <a:off x="46465300" y="16378536"/>
            <a:ext cx="34814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Family with 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</a:rPr>
              <a:t>low</a:t>
            </a:r>
            <a:r>
              <a:rPr lang="en-US" sz="2800"/>
              <a:t> sequence similarity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80ECF8-B1C7-A33B-8AF3-F8B6D9CA9971}"/>
              </a:ext>
            </a:extLst>
          </p:cNvPr>
          <p:cNvSpPr txBox="1"/>
          <p:nvPr/>
        </p:nvSpPr>
        <p:spPr>
          <a:xfrm flipH="1">
            <a:off x="31668045" y="19240364"/>
            <a:ext cx="61541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accent1">
                    <a:lumMod val="75000"/>
                    <a:lumOff val="25000"/>
                  </a:schemeClr>
                </a:solidFill>
              </a:rPr>
              <a:t>Nominated Ab </a:t>
            </a:r>
            <a:r>
              <a:rPr lang="en-US" sz="2800"/>
              <a:t>produced in the context of </a:t>
            </a:r>
            <a:r>
              <a:rPr lang="en-US" sz="2800" b="1">
                <a:solidFill>
                  <a:schemeClr val="bg1">
                    <a:lumMod val="50000"/>
                  </a:schemeClr>
                </a:solidFill>
              </a:rPr>
              <a:t>final</a:t>
            </a:r>
            <a:r>
              <a:rPr lang="en-US" sz="2800" b="1">
                <a:solidFill>
                  <a:schemeClr val="accent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>
                <a:solidFill>
                  <a:schemeClr val="bg1">
                    <a:lumMod val="50000"/>
                  </a:schemeClr>
                </a:solidFill>
              </a:rPr>
              <a:t>constructs</a:t>
            </a:r>
            <a:r>
              <a:rPr lang="en-US" sz="2800" b="1">
                <a:solidFill>
                  <a:schemeClr val="accent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/>
              <a:t>are successfully validated for </a:t>
            </a:r>
            <a:r>
              <a:rPr lang="en-US" sz="2800" b="1">
                <a:solidFill>
                  <a:schemeClr val="accent3">
                    <a:lumMod val="75000"/>
                  </a:schemeClr>
                </a:solidFill>
              </a:rPr>
              <a:t>agonism</a:t>
            </a:r>
            <a:r>
              <a:rPr lang="en-US" sz="2800"/>
              <a:t> (EC50) against 3 </a:t>
            </a:r>
            <a:r>
              <a:rPr lang="en-US" sz="2800" b="1">
                <a:solidFill>
                  <a:srgbClr val="00B050"/>
                </a:solidFill>
              </a:rPr>
              <a:t>targets.</a:t>
            </a:r>
            <a:endParaRPr lang="en-US" sz="2800" b="1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93" name="TextBox 1392">
            <a:extLst>
              <a:ext uri="{FF2B5EF4-FFF2-40B4-BE49-F238E27FC236}">
                <a16:creationId xmlns:a16="http://schemas.microsoft.com/office/drawing/2014/main" id="{0B9472D0-F496-AC3E-3C5C-010DBE91F87B}"/>
              </a:ext>
            </a:extLst>
          </p:cNvPr>
          <p:cNvSpPr txBox="1"/>
          <p:nvPr/>
        </p:nvSpPr>
        <p:spPr>
          <a:xfrm rot="16200000">
            <a:off x="47869256" y="21330436"/>
            <a:ext cx="19722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/>
              <a:t>Improved fitness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6F8F0E-C026-96DF-02DB-7E4608900447}"/>
              </a:ext>
            </a:extLst>
          </p:cNvPr>
          <p:cNvSpPr txBox="1"/>
          <p:nvPr/>
        </p:nvSpPr>
        <p:spPr>
          <a:xfrm>
            <a:off x="18996105" y="23423309"/>
            <a:ext cx="58860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Example 1.</a:t>
            </a:r>
            <a:r>
              <a:rPr lang="en-US" sz="2800"/>
              <a:t> The </a:t>
            </a:r>
            <a:r>
              <a:rPr lang="en-US" sz="2800" err="1"/>
              <a:t>biopanning</a:t>
            </a:r>
            <a:r>
              <a:rPr lang="en-US" sz="2800"/>
              <a:t> analytical pipeline robustly nominates molecules, with only 0.3% of molecules having evidence of nonspecific binding.</a:t>
            </a:r>
            <a:endParaRPr lang="en-US" sz="2800" b="1"/>
          </a:p>
        </p:txBody>
      </p:sp>
      <p:pic>
        <p:nvPicPr>
          <p:cNvPr id="1381" name="Picture 1380">
            <a:extLst>
              <a:ext uri="{FF2B5EF4-FFF2-40B4-BE49-F238E27FC236}">
                <a16:creationId xmlns:a16="http://schemas.microsoft.com/office/drawing/2014/main" id="{8790CF22-7EB9-3262-601A-73B472BC624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3190226" y="23380293"/>
            <a:ext cx="5326701" cy="3995026"/>
          </a:xfrm>
          <a:prstGeom prst="rect">
            <a:avLst/>
          </a:prstGeom>
        </p:spPr>
      </p:pic>
      <p:sp>
        <p:nvSpPr>
          <p:cNvPr id="1396" name="TextBox 1395">
            <a:extLst>
              <a:ext uri="{FF2B5EF4-FFF2-40B4-BE49-F238E27FC236}">
                <a16:creationId xmlns:a16="http://schemas.microsoft.com/office/drawing/2014/main" id="{DA0C3F51-12D6-EACB-3C2F-86F16385DCDF}"/>
              </a:ext>
            </a:extLst>
          </p:cNvPr>
          <p:cNvSpPr txBox="1"/>
          <p:nvPr/>
        </p:nvSpPr>
        <p:spPr>
          <a:xfrm>
            <a:off x="13190226" y="21780800"/>
            <a:ext cx="11393942" cy="12926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7000">
                <a:srgbClr val="AE6699"/>
              </a:gs>
              <a:gs pos="95000">
                <a:schemeClr val="bg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1" tIns="91440" rIns="274321" bIns="91440" rtlCol="0" anchor="ctr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3600">
                <a:solidFill>
                  <a:schemeClr val="accent1">
                    <a:lumMod val="90000"/>
                    <a:lumOff val="10000"/>
                  </a:schemeClr>
                </a:solidFill>
              </a:rPr>
              <a:t>Foundational characterization of molecular metadata improves candidate nomination</a:t>
            </a:r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374E2034-B1E3-0B4C-8A19-50426F5A87B9}"/>
              </a:ext>
            </a:extLst>
          </p:cNvPr>
          <p:cNvSpPr txBox="1"/>
          <p:nvPr/>
        </p:nvSpPr>
        <p:spPr>
          <a:xfrm>
            <a:off x="16542203" y="25708381"/>
            <a:ext cx="966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0.3%</a:t>
            </a:r>
          </a:p>
        </p:txBody>
      </p:sp>
      <p:pic>
        <p:nvPicPr>
          <p:cNvPr id="1397" name="Picture 1396">
            <a:extLst>
              <a:ext uri="{FF2B5EF4-FFF2-40B4-BE49-F238E27FC236}">
                <a16:creationId xmlns:a16="http://schemas.microsoft.com/office/drawing/2014/main" id="{AA2B0276-ABD2-8782-28BB-5B131A329EC5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001" b="1001"/>
          <a:stretch/>
        </p:blipFill>
        <p:spPr>
          <a:xfrm>
            <a:off x="32970380" y="21126152"/>
            <a:ext cx="4469751" cy="3216772"/>
          </a:xfrm>
          <a:prstGeom prst="rect">
            <a:avLst/>
          </a:prstGeom>
        </p:spPr>
      </p:pic>
      <p:sp>
        <p:nvSpPr>
          <p:cNvPr id="1347" name="Rectangle 1346">
            <a:extLst>
              <a:ext uri="{FF2B5EF4-FFF2-40B4-BE49-F238E27FC236}">
                <a16:creationId xmlns:a16="http://schemas.microsoft.com/office/drawing/2014/main" id="{C0327F56-E20C-086B-31C8-AEEAF2443A38}"/>
              </a:ext>
            </a:extLst>
          </p:cNvPr>
          <p:cNvSpPr/>
          <p:nvPr/>
        </p:nvSpPr>
        <p:spPr>
          <a:xfrm>
            <a:off x="21976537" y="17427651"/>
            <a:ext cx="528708" cy="491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" name="TextBox 1400">
            <a:extLst>
              <a:ext uri="{FF2B5EF4-FFF2-40B4-BE49-F238E27FC236}">
                <a16:creationId xmlns:a16="http://schemas.microsoft.com/office/drawing/2014/main" id="{963D479D-B82B-6FD7-710A-EEFC8DD844E4}"/>
              </a:ext>
            </a:extLst>
          </p:cNvPr>
          <p:cNvSpPr txBox="1"/>
          <p:nvPr/>
        </p:nvSpPr>
        <p:spPr>
          <a:xfrm>
            <a:off x="13190226" y="14897781"/>
            <a:ext cx="11691949" cy="12926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7000">
                <a:srgbClr val="AE6699"/>
              </a:gs>
              <a:gs pos="95000">
                <a:schemeClr val="bg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1" tIns="91440" rIns="274321" bIns="91440" rtlCol="0" anchor="ctr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3600">
                <a:solidFill>
                  <a:schemeClr val="accent1">
                    <a:lumMod val="90000"/>
                    <a:lumOff val="10000"/>
                  </a:schemeClr>
                </a:solidFill>
              </a:rPr>
              <a:t>An antibody validation rate &gt;50% routinely achieved for established experimental designs</a:t>
            </a:r>
          </a:p>
        </p:txBody>
      </p:sp>
      <p:sp>
        <p:nvSpPr>
          <p:cNvPr id="1402" name="TextBox 1401">
            <a:extLst>
              <a:ext uri="{FF2B5EF4-FFF2-40B4-BE49-F238E27FC236}">
                <a16:creationId xmlns:a16="http://schemas.microsoft.com/office/drawing/2014/main" id="{68BD00BF-4F8E-6C50-498F-A201BBE8BFAF}"/>
              </a:ext>
            </a:extLst>
          </p:cNvPr>
          <p:cNvSpPr txBox="1"/>
          <p:nvPr/>
        </p:nvSpPr>
        <p:spPr>
          <a:xfrm>
            <a:off x="13190225" y="16519214"/>
            <a:ext cx="63264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An iteratively refined prioritization funnel ensures high validation rates of diverse nominated antibodies.</a:t>
            </a:r>
            <a:endParaRPr lang="en-US" sz="2800" b="1"/>
          </a:p>
        </p:txBody>
      </p:sp>
      <p:sp>
        <p:nvSpPr>
          <p:cNvPr id="1406" name="TextBox 1405">
            <a:extLst>
              <a:ext uri="{FF2B5EF4-FFF2-40B4-BE49-F238E27FC236}">
                <a16:creationId xmlns:a16="http://schemas.microsoft.com/office/drawing/2014/main" id="{D9C826FF-2EF5-7653-6993-81AC4196DD41}"/>
              </a:ext>
            </a:extLst>
          </p:cNvPr>
          <p:cNvSpPr txBox="1"/>
          <p:nvPr/>
        </p:nvSpPr>
        <p:spPr>
          <a:xfrm>
            <a:off x="13190226" y="27682150"/>
            <a:ext cx="5849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 2.</a:t>
            </a:r>
            <a:r>
              <a:rPr lang="en-US" sz="2800" dirty="0"/>
              <a:t> Highest validation rates are observed for molecules with strong round-to-round enrichment trajectories.</a:t>
            </a:r>
            <a:endParaRPr lang="en-US" sz="2800" b="1" dirty="0"/>
          </a:p>
        </p:txBody>
      </p:sp>
      <p:pic>
        <p:nvPicPr>
          <p:cNvPr id="1372" name="Picture 1371">
            <a:extLst>
              <a:ext uri="{FF2B5EF4-FFF2-40B4-BE49-F238E27FC236}">
                <a16:creationId xmlns:a16="http://schemas.microsoft.com/office/drawing/2014/main" id="{2F5A2612-0B35-C427-4EDC-964E11CBE87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256497" y="26720441"/>
            <a:ext cx="8711300" cy="445190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8343A1B-29C5-A4E1-3652-C5B547922620}"/>
              </a:ext>
            </a:extLst>
          </p:cNvPr>
          <p:cNvSpPr txBox="1"/>
          <p:nvPr/>
        </p:nvSpPr>
        <p:spPr>
          <a:xfrm>
            <a:off x="948910" y="16519214"/>
            <a:ext cx="11393940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/>
              <a:t>The end-to-end data integration framework incorporates </a:t>
            </a:r>
            <a:r>
              <a:rPr lang="en-US" sz="2800" err="1"/>
              <a:t>NextFlow</a:t>
            </a:r>
            <a:r>
              <a:rPr lang="en-US" sz="2800"/>
              <a:t>-enabled analysis pipelines, relational and graph data solutions, and automated ETLs to enable iterative hypothesis testing and refinement.</a:t>
            </a:r>
            <a:endParaRPr lang="en-US" sz="2800" b="1"/>
          </a:p>
        </p:txBody>
      </p:sp>
      <p:sp>
        <p:nvSpPr>
          <p:cNvPr id="1394" name="TextBox 1393">
            <a:extLst>
              <a:ext uri="{FF2B5EF4-FFF2-40B4-BE49-F238E27FC236}">
                <a16:creationId xmlns:a16="http://schemas.microsoft.com/office/drawing/2014/main" id="{6BC3C5F9-251F-6989-B922-6485F2AC1D07}"/>
              </a:ext>
            </a:extLst>
          </p:cNvPr>
          <p:cNvSpPr txBox="1"/>
          <p:nvPr/>
        </p:nvSpPr>
        <p:spPr>
          <a:xfrm>
            <a:off x="657781" y="25157591"/>
            <a:ext cx="113939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Hierarchical, interpretability-focused MMSeqs2</a:t>
            </a:r>
            <a:r>
              <a:rPr lang="en-US" sz="2800" baseline="30000"/>
              <a:t>(1) </a:t>
            </a:r>
            <a:r>
              <a:rPr lang="en-US" sz="2800"/>
              <a:t>clustering of all 583M antibodies enables the guided exploration of sequences of high and low similarity.</a:t>
            </a:r>
            <a:endParaRPr lang="en-US" sz="2800" b="1"/>
          </a:p>
        </p:txBody>
      </p:sp>
      <p:pic>
        <p:nvPicPr>
          <p:cNvPr id="4997" name="Picture 4996">
            <a:extLst>
              <a:ext uri="{FF2B5EF4-FFF2-40B4-BE49-F238E27FC236}">
                <a16:creationId xmlns:a16="http://schemas.microsoft.com/office/drawing/2014/main" id="{60FDFD98-5E3A-70E0-BB0A-4CDBE1681B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97007" y="18442002"/>
            <a:ext cx="10430280" cy="6608683"/>
          </a:xfrm>
          <a:prstGeom prst="rect">
            <a:avLst/>
          </a:prstGeom>
        </p:spPr>
      </p:pic>
      <p:pic>
        <p:nvPicPr>
          <p:cNvPr id="1407" name="Picture 1406">
            <a:extLst>
              <a:ext uri="{FF2B5EF4-FFF2-40B4-BE49-F238E27FC236}">
                <a16:creationId xmlns:a16="http://schemas.microsoft.com/office/drawing/2014/main" id="{EC6E9370-E783-A36B-4DC2-FCE4E0C9B86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8007941" y="20585722"/>
            <a:ext cx="198079" cy="2390156"/>
          </a:xfrm>
          <a:prstGeom prst="rect">
            <a:avLst/>
          </a:prstGeom>
        </p:spPr>
      </p:pic>
      <p:pic>
        <p:nvPicPr>
          <p:cNvPr id="4996" name="Picture 4995">
            <a:extLst>
              <a:ext uri="{FF2B5EF4-FFF2-40B4-BE49-F238E27FC236}">
                <a16:creationId xmlns:a16="http://schemas.microsoft.com/office/drawing/2014/main" id="{668DAFC1-73A6-10EA-CEAE-8042C53485E4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39876172" y="19923761"/>
            <a:ext cx="7959451" cy="4493540"/>
          </a:xfrm>
          <a:prstGeom prst="rect">
            <a:avLst/>
          </a:prstGeom>
        </p:spPr>
      </p:pic>
      <p:sp>
        <p:nvSpPr>
          <p:cNvPr id="5005" name="TextBox 5004">
            <a:extLst>
              <a:ext uri="{FF2B5EF4-FFF2-40B4-BE49-F238E27FC236}">
                <a16:creationId xmlns:a16="http://schemas.microsoft.com/office/drawing/2014/main" id="{E2C935C3-6D40-9BB9-EE05-29F471CCD106}"/>
              </a:ext>
            </a:extLst>
          </p:cNvPr>
          <p:cNvSpPr txBox="1"/>
          <p:nvPr/>
        </p:nvSpPr>
        <p:spPr>
          <a:xfrm>
            <a:off x="948910" y="7851951"/>
            <a:ext cx="23933266" cy="73866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7000">
                <a:srgbClr val="AE6699"/>
              </a:gs>
              <a:gs pos="95000">
                <a:schemeClr val="bg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1" tIns="91440" rIns="274321" bIns="91440" rtlCol="0" anchor="ctr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3600" err="1">
                <a:solidFill>
                  <a:schemeClr val="accent1">
                    <a:lumMod val="90000"/>
                    <a:lumOff val="10000"/>
                  </a:schemeClr>
                </a:solidFill>
              </a:rPr>
              <a:t>Metaphore</a:t>
            </a:r>
            <a:r>
              <a:rPr lang="en-US" sz="3600">
                <a:solidFill>
                  <a:schemeClr val="accent1">
                    <a:lumMod val="90000"/>
                    <a:lumOff val="10000"/>
                  </a:schemeClr>
                </a:solidFill>
              </a:rPr>
              <a:t> antibody prioritization strategy: from high-throughput screening to in-depth validation</a:t>
            </a:r>
          </a:p>
        </p:txBody>
      </p:sp>
      <p:sp>
        <p:nvSpPr>
          <p:cNvPr id="5000" name="TextBox 4999">
            <a:extLst>
              <a:ext uri="{FF2B5EF4-FFF2-40B4-BE49-F238E27FC236}">
                <a16:creationId xmlns:a16="http://schemas.microsoft.com/office/drawing/2014/main" id="{0B97AB74-2D8F-7EA0-FA51-89503D0B17A3}"/>
              </a:ext>
            </a:extLst>
          </p:cNvPr>
          <p:cNvSpPr txBox="1"/>
          <p:nvPr/>
        </p:nvSpPr>
        <p:spPr>
          <a:xfrm>
            <a:off x="948910" y="8838744"/>
            <a:ext cx="30331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 </a:t>
            </a:r>
            <a:r>
              <a:rPr lang="en-US" sz="2800" err="1"/>
              <a:t>biopanning</a:t>
            </a:r>
            <a:r>
              <a:rPr lang="en-US" sz="2800"/>
              <a:t> campaign tests a range of antibody-target specificity hypotheses.</a:t>
            </a:r>
            <a:endParaRPr lang="en-US" sz="2800" b="1"/>
          </a:p>
        </p:txBody>
      </p:sp>
      <p:sp>
        <p:nvSpPr>
          <p:cNvPr id="5011" name="TextBox 5010">
            <a:extLst>
              <a:ext uri="{FF2B5EF4-FFF2-40B4-BE49-F238E27FC236}">
                <a16:creationId xmlns:a16="http://schemas.microsoft.com/office/drawing/2014/main" id="{846ABD8D-0EAC-F6CB-C813-EB8BCE9A4031}"/>
              </a:ext>
            </a:extLst>
          </p:cNvPr>
          <p:cNvSpPr txBox="1"/>
          <p:nvPr/>
        </p:nvSpPr>
        <p:spPr>
          <a:xfrm>
            <a:off x="8750849" y="8838744"/>
            <a:ext cx="38225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 combination of signal enrichment and a custom prioritization pipeline yields a deep queue of strong therapeutic candidates.</a:t>
            </a:r>
            <a:endParaRPr lang="en-US" sz="2800" b="1"/>
          </a:p>
        </p:txBody>
      </p:sp>
      <p:pic>
        <p:nvPicPr>
          <p:cNvPr id="5013" name="Picture 5012">
            <a:extLst>
              <a:ext uri="{FF2B5EF4-FFF2-40B4-BE49-F238E27FC236}">
                <a16:creationId xmlns:a16="http://schemas.microsoft.com/office/drawing/2014/main" id="{E4B6D004-7AA4-7D6E-FAF9-323E9411246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2721814" y="8720434"/>
            <a:ext cx="4155236" cy="3992530"/>
          </a:xfrm>
          <a:prstGeom prst="rect">
            <a:avLst/>
          </a:prstGeom>
        </p:spPr>
      </p:pic>
      <p:pic>
        <p:nvPicPr>
          <p:cNvPr id="5015" name="Picture 5014">
            <a:extLst>
              <a:ext uri="{FF2B5EF4-FFF2-40B4-BE49-F238E27FC236}">
                <a16:creationId xmlns:a16="http://schemas.microsoft.com/office/drawing/2014/main" id="{878923BD-350A-4B3E-1313-B58A175BE192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2494" r="-168"/>
          <a:stretch>
            <a:fillRect/>
          </a:stretch>
        </p:blipFill>
        <p:spPr>
          <a:xfrm>
            <a:off x="20918296" y="8909352"/>
            <a:ext cx="4155236" cy="3614695"/>
          </a:xfrm>
          <a:prstGeom prst="rect">
            <a:avLst/>
          </a:prstGeom>
        </p:spPr>
      </p:pic>
      <p:pic>
        <p:nvPicPr>
          <p:cNvPr id="5017" name="Picture 5016">
            <a:extLst>
              <a:ext uri="{FF2B5EF4-FFF2-40B4-BE49-F238E27FC236}">
                <a16:creationId xmlns:a16="http://schemas.microsoft.com/office/drawing/2014/main" id="{8AE705A5-9B5C-8DE6-99FC-94F44D1D6AD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30494" y="8654985"/>
            <a:ext cx="4471958" cy="4123429"/>
          </a:xfrm>
          <a:prstGeom prst="rect">
            <a:avLst/>
          </a:prstGeom>
        </p:spPr>
      </p:pic>
      <p:sp>
        <p:nvSpPr>
          <p:cNvPr id="5018" name="TextBox 5017">
            <a:extLst>
              <a:ext uri="{FF2B5EF4-FFF2-40B4-BE49-F238E27FC236}">
                <a16:creationId xmlns:a16="http://schemas.microsoft.com/office/drawing/2014/main" id="{9F9ED4E9-FD2C-E5BD-F106-6484CF5A4854}"/>
              </a:ext>
            </a:extLst>
          </p:cNvPr>
          <p:cNvSpPr txBox="1"/>
          <p:nvPr/>
        </p:nvSpPr>
        <p:spPr>
          <a:xfrm>
            <a:off x="17025447" y="8838744"/>
            <a:ext cx="38225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An agile relational and graph-based analytical framework enables rapid refinement based on iterative rounds of validation.</a:t>
            </a:r>
            <a:endParaRPr lang="en-US" sz="2800" b="1"/>
          </a:p>
        </p:txBody>
      </p:sp>
      <p:pic>
        <p:nvPicPr>
          <p:cNvPr id="4998" name="Picture 4997">
            <a:extLst>
              <a:ext uri="{FF2B5EF4-FFF2-40B4-BE49-F238E27FC236}">
                <a16:creationId xmlns:a16="http://schemas.microsoft.com/office/drawing/2014/main" id="{E65DBFA9-ACB6-A0D5-AF35-6BD96F811B4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9245817" y="17564822"/>
            <a:ext cx="5194298" cy="3640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124A72-B61E-4388-14A3-282A59F13958}"/>
              </a:ext>
            </a:extLst>
          </p:cNvPr>
          <p:cNvSpPr txBox="1"/>
          <p:nvPr/>
        </p:nvSpPr>
        <p:spPr>
          <a:xfrm>
            <a:off x="997427" y="2799943"/>
            <a:ext cx="1296043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aseline="0" err="1">
                <a:solidFill>
                  <a:srgbClr val="FFFFFF"/>
                </a:solidFill>
                <a:latin typeface="Century Gothic"/>
              </a:rPr>
              <a:t>Metaphore</a:t>
            </a:r>
            <a:r>
              <a:rPr lang="en-US" sz="4000" baseline="0">
                <a:solidFill>
                  <a:srgbClr val="FFFFFF"/>
                </a:solidFill>
                <a:latin typeface="Century Gothic"/>
              </a:rPr>
              <a:t> Biotechnologies, </a:t>
            </a:r>
            <a:r>
              <a:rPr lang="en-US" sz="4000">
                <a:solidFill>
                  <a:srgbClr val="FFFFFF"/>
                </a:solidFill>
                <a:latin typeface="Century Gothic"/>
              </a:rPr>
              <a:t>Somerville, MA</a:t>
            </a:r>
            <a:endParaRPr lang="en-US" sz="40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D61A1A-13A7-D7ED-238D-B7B6846FA859}"/>
              </a:ext>
            </a:extLst>
          </p:cNvPr>
          <p:cNvSpPr txBox="1"/>
          <p:nvPr/>
        </p:nvSpPr>
        <p:spPr>
          <a:xfrm>
            <a:off x="948910" y="14897781"/>
            <a:ext cx="11691948" cy="12926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7000">
                <a:srgbClr val="AE6699"/>
              </a:gs>
              <a:gs pos="95000">
                <a:schemeClr val="bg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1" tIns="91440" rIns="274321" bIns="91440" rtlCol="0" anchor="ctr">
            <a:spAutoFit/>
          </a:bodyPr>
          <a:lstStyle>
            <a:defPPr>
              <a:defRPr lang="en-US"/>
            </a:defPPr>
            <a:lvl1pPr algn="ctr">
              <a:defRPr sz="30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3600">
                <a:solidFill>
                  <a:schemeClr val="accent1">
                    <a:lumMod val="90000"/>
                    <a:lumOff val="10000"/>
                  </a:schemeClr>
                </a:solidFill>
              </a:rPr>
              <a:t>1B+ measurements from a range of platforms enabled by a cutting-edge analytical stack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E966E7-64AD-6039-B3FB-B700AD763061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9364303" y="25837073"/>
            <a:ext cx="5326701" cy="5019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032CD4-3C4B-9558-8EE0-91281676A425}"/>
              </a:ext>
            </a:extLst>
          </p:cNvPr>
          <p:cNvSpPr txBox="1"/>
          <p:nvPr/>
        </p:nvSpPr>
        <p:spPr>
          <a:xfrm>
            <a:off x="20971953" y="12164195"/>
            <a:ext cx="96718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981461"/>
                </a:solidFill>
              </a:rPr>
              <a:t>Binder</a:t>
            </a:r>
          </a:p>
          <a:p>
            <a:r>
              <a:rPr lang="en-US" sz="1800">
                <a:solidFill>
                  <a:srgbClr val="75B3B8"/>
                </a:solidFill>
              </a:rPr>
              <a:t>Target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5C47CC-8334-00E5-E9AB-388CC9F4B7E3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6711" t="9078" r="8235" b="1817"/>
          <a:stretch>
            <a:fillRect/>
          </a:stretch>
        </p:blipFill>
        <p:spPr>
          <a:xfrm>
            <a:off x="14140036" y="17918943"/>
            <a:ext cx="3641898" cy="319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674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203C3E"/>
      </a:dk2>
      <a:lt2>
        <a:srgbClr val="FFFFFF"/>
      </a:lt2>
      <a:accent1>
        <a:srgbClr val="350722"/>
      </a:accent1>
      <a:accent2>
        <a:srgbClr val="780055"/>
      </a:accent2>
      <a:accent3>
        <a:srgbClr val="CF8B01"/>
      </a:accent3>
      <a:accent4>
        <a:srgbClr val="003E59"/>
      </a:accent4>
      <a:accent5>
        <a:srgbClr val="00584D"/>
      </a:accent5>
      <a:accent6>
        <a:srgbClr val="008CC9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051F1D63-8931-F140-9141-236AED40CE53}" vid="{BE992FB8-9FC7-DF4F-906B-C8984D7DC8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558BB0-5AC4-0946-9093-89998C489684}">
  <we:reference id="WA200006038" version="1.0.0.5" store="Omex" storeType="OMEX"/>
  <we:alternateReferences>
    <we:reference id="WA200006038" version="1.0.0.5" store="WA200006038" storeType="OMEX"/>
  </we:alternateReferences>
  <we:properties>
    <we:property name="pptx_export_from_biorender" value="fals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cdc71c-126f-4fee-a1b2-d8c0404504ce" xsi:nil="true"/>
    <lcf76f155ced4ddcb4097134ff3c332f xmlns="bc17d304-1e11-449e-ad63-ad695d45c74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15A93B51E1364B9B73A051968FC154" ma:contentTypeVersion="5" ma:contentTypeDescription="Create a new document." ma:contentTypeScope="" ma:versionID="32ba9a8aea05e4ceb20dc13108aa1aaa">
  <xsd:schema xmlns:xsd="http://www.w3.org/2001/XMLSchema" xmlns:xs="http://www.w3.org/2001/XMLSchema" xmlns:p="http://schemas.microsoft.com/office/2006/metadata/properties" xmlns:ns2="5217036f-8719-4059-ad1a-4cf60ed92be6" xmlns:ns3="abb73438-0b47-4bb3-b936-cf4b3ee65a91" xmlns:ns4="bc17d304-1e11-449e-ad63-ad695d45c74e" xmlns:ns5="a8cdc71c-126f-4fee-a1b2-d8c0404504ce" targetNamespace="http://schemas.microsoft.com/office/2006/metadata/properties" ma:root="true" ma:fieldsID="7ce20163f3ef98ed16160278363b038a" ns2:_="" ns3:_="" ns4:_="" ns5:_="">
    <xsd:import namespace="5217036f-8719-4059-ad1a-4cf60ed92be6"/>
    <xsd:import namespace="abb73438-0b47-4bb3-b936-cf4b3ee65a91"/>
    <xsd:import namespace="bc17d304-1e11-449e-ad63-ad695d45c74e"/>
    <xsd:import namespace="a8cdc71c-126f-4fee-a1b2-d8c0404504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4:lcf76f155ced4ddcb4097134ff3c332f" minOccurs="0"/>
                <xsd:element ref="ns5:TaxCatchAll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7036f-8719-4059-ad1a-4cf60ed92b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b73438-0b47-4bb3-b936-cf4b3ee65a9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7d304-1e11-449e-ad63-ad695d45c74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17f73fd-e05c-4f20-8f03-32d616d4e4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cdc71c-126f-4fee-a1b2-d8c0404504c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96aa3da6-b0ef-43d9-9f4d-b63b333f63e5}" ma:internalName="TaxCatchAll" ma:showField="CatchAllData" ma:web="a8cdc71c-126f-4fee-a1b2-d8c0404504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AEED48-0656-44C6-92D2-04B28B863EDC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a8cdc71c-126f-4fee-a1b2-d8c0404504ce"/>
    <ds:schemaRef ds:uri="http://purl.org/dc/dcmitype/"/>
    <ds:schemaRef ds:uri="bc17d304-1e11-449e-ad63-ad695d45c74e"/>
    <ds:schemaRef ds:uri="abb73438-0b47-4bb3-b936-cf4b3ee65a91"/>
    <ds:schemaRef ds:uri="http://purl.org/dc/terms/"/>
    <ds:schemaRef ds:uri="http://schemas.microsoft.com/office/infopath/2007/PartnerControls"/>
    <ds:schemaRef ds:uri="5217036f-8719-4059-ad1a-4cf60ed92be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21F3EA0-460F-4049-9768-7333CADAA4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17036f-8719-4059-ad1a-4cf60ed92be6"/>
    <ds:schemaRef ds:uri="abb73438-0b47-4bb3-b936-cf4b3ee65a91"/>
    <ds:schemaRef ds:uri="bc17d304-1e11-449e-ad63-ad695d45c74e"/>
    <ds:schemaRef ds:uri="a8cdc71c-126f-4fee-a1b2-d8c0404504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495143-8699-4C2A-A55D-05432B702F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741</Words>
  <Application>Microsoft Macintosh PowerPoint</Application>
  <PresentationFormat>Custom</PresentationFormat>
  <Paragraphs>46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Century Gothic</vt:lpstr>
      <vt:lpstr>Wingdings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Deck</dc:title>
  <dc:creator>Elle Scott</dc:creator>
  <cp:lastModifiedBy>Tara Friedrich</cp:lastModifiedBy>
  <cp:revision>6</cp:revision>
  <dcterms:created xsi:type="dcterms:W3CDTF">2023-02-07T21:25:23Z</dcterms:created>
  <dcterms:modified xsi:type="dcterms:W3CDTF">2026-06-03T02:04:19Z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0x010100AE15A93B51E1364B9B73A051968FC154</vt:lpwstr>
  </property>
  <property fmtid="{D5CDD505-2E9C-101B-9397-08002B2CF9AE}" pid="3" name="MediaServiceImageTags">
    <vt:lpwstr/>
  </property>
  <property fmtid="{D5CDD505-2E9C-101B-9397-08002B2CF9AE}" pid="4" name="Shobhit">
    <vt:lpwstr/>
  </property>
  <property fmtid="{D5CDD505-2E9C-101B-9397-08002B2CF9AE}" pid="5" name="SS">
    <vt:lpwstr/>
  </property>
  <property fmtid="{D5CDD505-2E9C-101B-9397-08002B2CF9AE}" pid="6" name="YesNo">
    <vt:bool>true</vt:bool>
  </property>
</Properties>
</file>